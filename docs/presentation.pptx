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5.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933"/>
                </a:solidFill>
                <a:latin typeface="Calibri"/>
              </a:defRPr>
            </a:pPr>
            <a:r>
              <a:rPr sz="1300" b="0" i="0" u="none" strike="noStrike">
                <a:solidFill>
                  <a:srgbClr val="1F2933"/>
                </a:solidFill>
                <a:latin typeface="Calibri"/>
              </a:rPr>
              <a:t>Train on synthetic, test on real (TSTR): 60-min forecast error</a:t>
            </a:r>
          </a:p>
        </c:rich>
      </c:tx>
      <c:layout/>
      <c:overlay val="0"/>
    </c:title>
    <c:autoTitleDeleted val="0"/>
    <c:plotArea>
      <c:layout/>
      <c:barChart>
        <c:barDir val="bar"/>
        <c:grouping val="clustered"/>
        <c:varyColors val="0"/>
        <c:ser>
          <c:idx val="0"/>
          <c:order val="0"/>
          <c:tx>
            <c:strRef>
              <c:f>Sheet1!$B$1</c:f>
              <c:strCache>
                <c:ptCount val="1"/>
                <c:pt idx="0">
                  <c:v>60-min MAE on real patients (mg/dL)</c:v>
                </c:pt>
              </c:strCache>
            </c:strRef>
          </c:tx>
          <c:spPr>
            <a:solidFill>
              <a:srgbClr val="2F6FB0"/>
            </a:solidFill>
            <a:effectLst/>
          </c:spPr>
          <c:invertIfNegative val="0"/>
          <c:dLbls>
            <c:numFmt formatCode="0.0" sourceLinked="0"/>
            <c:txPr>
              <a:bodyPr/>
              <a:lstStyle/>
              <a:p>
                <a:pPr>
                  <a:defRPr b="0" i="0" strike="noStrike" sz="1000" u="none">
                    <a:solidFill>
                      <a:srgbClr val="1F2933"/>
                    </a:solidFill>
                    <a:latin typeface="Calibri"/>
                  </a:defRPr>
                </a:pPr>
              </a:p>
            </c:txPr>
            <c:showLegendKey val="0"/>
            <c:showVal val="1"/>
            <c:showCatName val="0"/>
            <c:showSerName val="0"/>
            <c:showPercent val="0"/>
            <c:showBubbleSize val="0"/>
            <c:showLeaderLines val="0"/>
          </c:dLbls>
          <c:cat>
            <c:multiLvlStrRef>
              <c:f>Sheet1!$A$2:$A$4</c:f>
              <c:multiLvlStrCache>
                <c:ptCount val="3"/>
                <c:lvl>
                  <c:pt idx="0">
                    <c:v>Persistence (no model)</c:v>
                  </c:pt>
                  <c:pt idx="1">
                    <c:v>Trained on SYNTHETIC</c:v>
                  </c:pt>
                  <c:pt idx="2">
                    <c:v>Trained on real (reference)</c:v>
                  </c:pt>
                </c:lvl>
              </c:multiLvlStrCache>
            </c:multiLvlStrRef>
          </c:cat>
          <c:val>
            <c:numRef>
              <c:f>Sheet1!$B$2:$B$4</c:f>
              <c:numCache>
                <c:formatCode>General</c:formatCode>
                <c:ptCount val="3"/>
                <c:pt idx="0">
                  <c:v>19.9</c:v>
                </c:pt>
                <c:pt idx="1">
                  <c:v>18.7</c:v>
                </c:pt>
                <c:pt idx="2">
                  <c:v>17.5</c:v>
                </c:pt>
              </c:numCache>
            </c:numRef>
          </c:val>
        </c:ser>
        <c:dLbls>
          <c:numFmt formatCode="0.0" sourceLinked="0"/>
          <c:txPr>
            <a:bodyPr/>
            <a:lstStyle/>
            <a:p>
              <a:pPr>
                <a:defRPr b="0" i="0" strike="noStrike" sz="1000" u="none">
                  <a:solidFill>
                    <a:srgbClr val="1F29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B6B7B"/>
                </a:solidFill>
                <a:latin typeface="Calibri"/>
              </a:defRPr>
            </a:pPr>
            <a:endParaRPr lang="en-US"/>
          </a:p>
        </c:txPr>
        <c:crossAx val="2094734552"/>
        <c:crosses val="autoZero"/>
        <c:auto val="1"/>
        <c:lblAlgn val="ctr"/>
        <c:noMultiLvlLbl val="1"/>
      </c:catAx>
      <c:valAx>
        <c:axId val="2094734552"/>
        <c:scaling>
          <c:orientation val="minMax"/>
          <c:max val="22"/>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B7B"/>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933"/>
                </a:solidFill>
                <a:latin typeface="Calibri"/>
              </a:defRPr>
            </a:pPr>
            <a:r>
              <a:rPr sz="1300" b="0" i="0" u="none" strike="noStrike">
                <a:solidFill>
                  <a:srgbClr val="1F2933"/>
                </a:solidFill>
                <a:latin typeface="Calibri"/>
              </a:rPr>
              <a:t>Forecast error (MAE, mg/dL) by horizon: lower is better</a:t>
            </a:r>
          </a:p>
        </c:rich>
      </c:tx>
      <c:layout/>
      <c:overlay val="0"/>
    </c:title>
    <c:autoTitleDeleted val="0"/>
    <c:plotArea>
      <c:layout/>
      <c:barChart>
        <c:barDir val="col"/>
        <c:grouping val="clustered"/>
        <c:varyColors val="0"/>
        <c:ser>
          <c:idx val="0"/>
          <c:order val="0"/>
          <c:tx>
            <c:strRef>
              <c:f>Sheet1!$B$1</c:f>
              <c:strCache>
                <c:ptCount val="1"/>
                <c:pt idx="0">
                  <c:v>Persistence (glucose stays the same)</c:v>
                </c:pt>
              </c:strCache>
            </c:strRef>
          </c:tx>
          <c:spPr>
            <a:solidFill>
              <a:srgbClr val="9AA5B1"/>
            </a:solidFill>
            <a:effectLst/>
          </c:spPr>
          <c:invertIfNegative val="0"/>
          <c:dLbls>
            <c:numFmt formatCode="0.0" sourceLinked="0"/>
            <c:txPr>
              <a:bodyPr/>
              <a:lstStyle/>
              <a:p>
                <a:pPr>
                  <a:defRPr b="0" i="0" strike="noStrike" sz="1000" u="none">
                    <a:solidFill>
                      <a:srgbClr val="1F2933"/>
                    </a:solidFill>
                    <a:latin typeface="Calibri"/>
                  </a:defRPr>
                </a:pPr>
              </a:p>
            </c:txPr>
            <c:showLegendKey val="0"/>
            <c:showVal val="1"/>
            <c:showCatName val="0"/>
            <c:showSerName val="0"/>
            <c:showPercent val="0"/>
            <c:showBubbleSize val="0"/>
            <c:showLeaderLines val="0"/>
          </c:dLbls>
          <c:cat>
            <c:multiLvlStrRef>
              <c:f>Sheet1!$A$2:$A$4</c:f>
              <c:multiLvlStrCache>
                <c:ptCount val="3"/>
                <c:lvl>
                  <c:pt idx="0">
                    <c:v>30 min</c:v>
                  </c:pt>
                  <c:pt idx="1">
                    <c:v>60 min</c:v>
                  </c:pt>
                  <c:pt idx="2">
                    <c:v>120 min</c:v>
                  </c:pt>
                </c:lvl>
              </c:multiLvlStrCache>
            </c:multiLvlStrRef>
          </c:cat>
          <c:val>
            <c:numRef>
              <c:f>Sheet1!$B$2:$B$4</c:f>
              <c:numCache>
                <c:formatCode>General</c:formatCode>
                <c:ptCount val="3"/>
                <c:pt idx="0">
                  <c:v>13.69</c:v>
                </c:pt>
                <c:pt idx="1">
                  <c:v>24.64</c:v>
                </c:pt>
                <c:pt idx="2">
                  <c:v>41.19</c:v>
                </c:pt>
              </c:numCache>
            </c:numRef>
          </c:val>
        </c:ser>
        <c:ser>
          <c:idx val="1"/>
          <c:order val="1"/>
          <c:tx>
            <c:strRef>
              <c:f>Sheet1!$C$1</c:f>
              <c:strCache>
                <c:ptCount val="1"/>
                <c:pt idx="0">
                  <c:v>Fusion model (CGM + wearables + EHR + meal log)</c:v>
                </c:pt>
              </c:strCache>
            </c:strRef>
          </c:tx>
          <c:spPr>
            <a:solidFill>
              <a:srgbClr val="2F6FB0"/>
            </a:solidFill>
            <a:effectLst/>
          </c:spPr>
          <c:invertIfNegative val="0"/>
          <c:dLbls>
            <c:numFmt formatCode="0.0" sourceLinked="0"/>
            <c:txPr>
              <a:bodyPr/>
              <a:lstStyle/>
              <a:p>
                <a:pPr>
                  <a:defRPr b="0" i="0" strike="noStrike" sz="1000" u="none">
                    <a:solidFill>
                      <a:srgbClr val="1F2933"/>
                    </a:solidFill>
                    <a:latin typeface="Calibri"/>
                  </a:defRPr>
                </a:pPr>
              </a:p>
            </c:txPr>
            <c:showLegendKey val="0"/>
            <c:showVal val="1"/>
            <c:showCatName val="0"/>
            <c:showSerName val="0"/>
            <c:showPercent val="0"/>
            <c:showBubbleSize val="0"/>
            <c:showLeaderLines val="0"/>
          </c:dLbls>
          <c:cat>
            <c:multiLvlStrRef>
              <c:f>Sheet1!$A$2:$A$4</c:f>
              <c:multiLvlStrCache>
                <c:ptCount val="3"/>
                <c:lvl>
                  <c:pt idx="0">
                    <c:v>30 min</c:v>
                  </c:pt>
                  <c:pt idx="1">
                    <c:v>60 min</c:v>
                  </c:pt>
                  <c:pt idx="2">
                    <c:v>120 min</c:v>
                  </c:pt>
                </c:lvl>
              </c:multiLvlStrCache>
            </c:multiLvlStrRef>
          </c:cat>
          <c:val>
            <c:numRef>
              <c:f>Sheet1!$C$2:$C$4</c:f>
              <c:numCache>
                <c:formatCode>General</c:formatCode>
                <c:ptCount val="3"/>
                <c:pt idx="0">
                  <c:v>7.91</c:v>
                </c:pt>
                <c:pt idx="1">
                  <c:v>14.14</c:v>
                </c:pt>
                <c:pt idx="2">
                  <c:v>22.73</c:v>
                </c:pt>
              </c:numCache>
            </c:numRef>
          </c:val>
        </c:ser>
        <c:dLbls>
          <c:numFmt formatCode="0.0" sourceLinked="0"/>
          <c:txPr>
            <a:bodyPr/>
            <a:lstStyle/>
            <a:p>
              <a:pPr>
                <a:defRPr b="0" i="0" strike="noStrike" sz="1000" u="none">
                  <a:solidFill>
                    <a:srgbClr val="1F29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5B6B7B"/>
                </a:solidFill>
                <a:latin typeface="Calibri"/>
              </a:defRPr>
            </a:pPr>
            <a:endParaRPr lang="en-US"/>
          </a:p>
        </c:txPr>
        <c:crossAx val="2094734552"/>
        <c:crosses val="autoZero"/>
        <c:auto val="1"/>
        <c:lblAlgn val="ctr"/>
        <c:noMultiLvlLbl val="1"/>
      </c:catAx>
      <c:valAx>
        <c:axId val="2094734552"/>
        <c:scaling>
          <c:orientation val="minMax"/>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B"/>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F2933"/>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933"/>
                </a:solidFill>
                <a:latin typeface="Calibri"/>
              </a:defRPr>
            </a:pPr>
            <a:r>
              <a:rPr sz="1300" b="0" i="0" u="none" strike="noStrike">
                <a:solidFill>
                  <a:srgbClr val="1F2933"/>
                </a:solidFill>
                <a:latin typeface="Calibri"/>
              </a:rPr>
              <a:t>60-minute forecast error (mg/dL), test patients</a:t>
            </a:r>
          </a:p>
        </c:rich>
      </c:tx>
      <c:layout/>
      <c:overlay val="0"/>
    </c:title>
    <c:autoTitleDeleted val="0"/>
    <c:plotArea>
      <c:layout/>
      <c:barChart>
        <c:barDir val="bar"/>
        <c:grouping val="clustered"/>
        <c:varyColors val="0"/>
        <c:ser>
          <c:idx val="0"/>
          <c:order val="0"/>
          <c:tx>
            <c:strRef>
              <c:f>Sheet1!$B$1</c:f>
              <c:strCache>
                <c:ptCount val="1"/>
                <c:pt idx="0">
                  <c:v>MAE at 60 min</c:v>
                </c:pt>
              </c:strCache>
            </c:strRef>
          </c:tx>
          <c:spPr>
            <a:solidFill>
              <a:srgbClr val="2F6FB0"/>
            </a:solidFill>
            <a:effectLst/>
          </c:spPr>
          <c:invertIfNegative val="0"/>
          <c:dLbls>
            <c:numFmt formatCode="0.00" sourceLinked="0"/>
            <c:txPr>
              <a:bodyPr/>
              <a:lstStyle/>
              <a:p>
                <a:pPr>
                  <a:defRPr b="0" i="0" strike="noStrike" sz="1000" u="none">
                    <a:solidFill>
                      <a:srgbClr val="1F2933"/>
                    </a:solidFill>
                    <a:latin typeface="Calibri"/>
                  </a:defRPr>
                </a:pPr>
              </a:p>
            </c:txPr>
            <c:showLegendKey val="0"/>
            <c:showVal val="1"/>
            <c:showCatName val="0"/>
            <c:showSerName val="0"/>
            <c:showPercent val="0"/>
            <c:showBubbleSize val="0"/>
            <c:showLeaderLines val="0"/>
          </c:dLbls>
          <c:cat>
            <c:multiLvlStrRef>
              <c:f>Sheet1!$A$2:$A$7</c:f>
              <c:multiLvlStrCache>
                <c:ptCount val="6"/>
                <c:lvl>
                  <c:pt idx="0">
                    <c:v>Persistence</c:v>
                  </c:pt>
                  <c:pt idx="1">
                    <c:v>Linear extrapolation</c:v>
                  </c:pt>
                  <c:pt idx="2">
                    <c:v>CGM only</c:v>
                  </c:pt>
                  <c:pt idx="3">
                    <c:v>+ wearables</c:v>
                  </c:pt>
                  <c:pt idx="4">
                    <c:v>+ EHR record</c:v>
                  </c:pt>
                  <c:pt idx="5">
                    <c:v>+ meal log (fusion)</c:v>
                  </c:pt>
                </c:lvl>
              </c:multiLvlStrCache>
            </c:multiLvlStrRef>
          </c:cat>
          <c:val>
            <c:numRef>
              <c:f>Sheet1!$B$2:$B$7</c:f>
              <c:numCache>
                <c:formatCode>General</c:formatCode>
                <c:ptCount val="6"/>
                <c:pt idx="0">
                  <c:v>24.64</c:v>
                </c:pt>
                <c:pt idx="1">
                  <c:v>28.93</c:v>
                </c:pt>
                <c:pt idx="2">
                  <c:v>14.82</c:v>
                </c:pt>
                <c:pt idx="3">
                  <c:v>14.93</c:v>
                </c:pt>
                <c:pt idx="4">
                  <c:v>14.92</c:v>
                </c:pt>
                <c:pt idx="5">
                  <c:v>14.14</c:v>
                </c:pt>
              </c:numCache>
            </c:numRef>
          </c:val>
        </c:ser>
        <c:dLbls>
          <c:numFmt formatCode="0.00" sourceLinked="0"/>
          <c:txPr>
            <a:bodyPr/>
            <a:lstStyle/>
            <a:p>
              <a:pPr>
                <a:defRPr b="0" i="0" strike="noStrike" sz="1000" u="none">
                  <a:solidFill>
                    <a:srgbClr val="1F29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B6B7B"/>
                </a:solidFill>
                <a:latin typeface="Calibri"/>
              </a:defRPr>
            </a:pPr>
            <a:endParaRPr lang="en-US"/>
          </a:p>
        </c:txPr>
        <c:crossAx val="2094734552"/>
        <c:crosses val="autoZero"/>
        <c:auto val="1"/>
        <c:lblAlgn val="ctr"/>
        <c:noMultiLvlLbl val="1"/>
      </c:catAx>
      <c:valAx>
        <c:axId val="2094734552"/>
        <c:scaling>
          <c:orientation val="minMax"/>
          <c:max val="33"/>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B7B"/>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933"/>
                </a:solidFill>
                <a:latin typeface="Calibri"/>
              </a:defRPr>
            </a:pPr>
            <a:r>
              <a:rPr sz="1300" b="0" i="0" u="none" strike="noStrike">
                <a:solidFill>
                  <a:srgbClr val="1F2933"/>
                </a:solidFill>
                <a:latin typeface="Calibri"/>
              </a:rPr>
              <a:t>Alert threshold (calibrated probability) vs catch rate and precision</a:t>
            </a:r>
          </a:p>
        </c:rich>
      </c:tx>
      <c:layout/>
      <c:overlay val="0"/>
    </c:title>
    <c:autoTitleDeleted val="0"/>
    <c:plotArea>
      <c:layout/>
      <c:lineChart>
        <c:varyColors val="0"/>
        <c:ser>
          <c:idx val="0"/>
          <c:order val="0"/>
          <c:tx>
            <c:strRef>
              <c:f>Sheet1!$B$1</c:f>
              <c:strCache>
                <c:ptCount val="1"/>
                <c:pt idx="0">
                  <c:v>Spikes caught (%)</c:v>
                </c:pt>
              </c:strCache>
            </c:strRef>
          </c:tx>
          <c:spPr>
            <a:solidFill>
              <a:srgbClr val="2F6FB0"/>
            </a:solidFill>
            <a:ln w="31750" cap="flat">
              <a:solidFill>
                <a:srgbClr val="2F6FB0"/>
              </a:solidFill>
              <a:prstDash val="solid"/>
              <a:round/>
            </a:ln>
            <a:effectLst/>
          </c:spPr>
          <c:invertIfNegative val="0"/>
          <c:dLbls>
            <c:numFmt formatCode="#,##0" sourceLinked="0"/>
            <c:txPr>
              <a:bodyPr/>
              <a:lstStyle/>
              <a:p>
                <a:pPr>
                  <a:defRPr b="0" i="0" strike="noStrike" sz="1000" u="none">
                    <a:solidFill>
                      <a:srgbClr val="1F2933"/>
                    </a:solidFill>
                    <a:latin typeface="Calibri"/>
                  </a:defRPr>
                </a:pPr>
              </a:p>
            </c:txPr>
            <c:showLegendKey val="0"/>
            <c:showVal val="0"/>
            <c:showCatName val="0"/>
            <c:showSerName val="0"/>
            <c:showPercent val="0"/>
            <c:showBubbleSize val="0"/>
            <c:showLeaderLines val="0"/>
          </c:dLbls>
          <c:marker>
            <c:symbol val="circle"/>
            <c:size val="8"/>
            <c:spPr>
              <a:solidFill>
                <a:srgbClr val="2F6FB0"/>
              </a:solidFill>
              <a:ln w="9525" cap="flat">
                <a:solidFill>
                  <a:srgbClr val="2F6FB0"/>
                </a:solidFill>
                <a:prstDash val="solid"/>
                <a:round/>
              </a:ln>
              <a:effectLst/>
            </c:spPr>
          </c:marker>
          <c:cat>
            <c:multiLvlStrRef>
              <c:f>Sheet1!$A$2:$A$7</c:f>
              <c:multiLvlStrCache>
                <c:ptCount val="6"/>
                <c:lvl>
                  <c:pt idx="0">
                    <c:v>0.2</c:v>
                  </c:pt>
                  <c:pt idx="1">
                    <c:v>0.3</c:v>
                  </c:pt>
                  <c:pt idx="2">
                    <c:v>0.4</c:v>
                  </c:pt>
                  <c:pt idx="3">
                    <c:v>0.5</c:v>
                  </c:pt>
                  <c:pt idx="4">
                    <c:v>0.6</c:v>
                  </c:pt>
                  <c:pt idx="5">
                    <c:v>0.7</c:v>
                  </c:pt>
                </c:lvl>
              </c:multiLvlStrCache>
            </c:multiLvlStrRef>
          </c:cat>
          <c:val>
            <c:numRef>
              <c:f>Sheet1!$B$2:$B$7</c:f>
              <c:numCache>
                <c:formatCode>General</c:formatCode>
                <c:ptCount val="6"/>
                <c:pt idx="0">
                  <c:v>97.9</c:v>
                </c:pt>
                <c:pt idx="1">
                  <c:v>96.8</c:v>
                </c:pt>
                <c:pt idx="2">
                  <c:v>93.8</c:v>
                </c:pt>
                <c:pt idx="3">
                  <c:v>92.2</c:v>
                </c:pt>
                <c:pt idx="4">
                  <c:v>89.6</c:v>
                </c:pt>
                <c:pt idx="5">
                  <c:v>84.9</c:v>
                </c:pt>
              </c:numCache>
            </c:numRef>
          </c:val>
          <c:smooth val="0"/>
        </c:ser>
        <c:ser>
          <c:idx val="1"/>
          <c:order val="1"/>
          <c:tx>
            <c:strRef>
              <c:f>Sheet1!$C$1</c:f>
              <c:strCache>
                <c:ptCount val="1"/>
                <c:pt idx="0">
                  <c:v>Alerts followed by a spike (%)</c:v>
                </c:pt>
              </c:strCache>
            </c:strRef>
          </c:tx>
          <c:spPr>
            <a:solidFill>
              <a:srgbClr val="E07A2F"/>
            </a:solidFill>
            <a:ln w="31750" cap="flat">
              <a:solidFill>
                <a:srgbClr val="E07A2F"/>
              </a:solidFill>
              <a:prstDash val="solid"/>
              <a:round/>
            </a:ln>
            <a:effectLst/>
          </c:spPr>
          <c:invertIfNegative val="0"/>
          <c:dLbls>
            <c:numFmt formatCode="#,##0" sourceLinked="0"/>
            <c:txPr>
              <a:bodyPr/>
              <a:lstStyle/>
              <a:p>
                <a:pPr>
                  <a:defRPr b="0" i="0" strike="noStrike" sz="1000" u="none">
                    <a:solidFill>
                      <a:srgbClr val="1F2933"/>
                    </a:solidFill>
                    <a:latin typeface="Calibri"/>
                  </a:defRPr>
                </a:pPr>
              </a:p>
            </c:txPr>
            <c:showLegendKey val="0"/>
            <c:showVal val="0"/>
            <c:showCatName val="0"/>
            <c:showSerName val="0"/>
            <c:showPercent val="0"/>
            <c:showBubbleSize val="0"/>
            <c:showLeaderLines val="0"/>
          </c:dLbls>
          <c:marker>
            <c:symbol val="circle"/>
            <c:size val="8"/>
            <c:spPr>
              <a:solidFill>
                <a:srgbClr val="E07A2F"/>
              </a:solidFill>
              <a:ln w="9525" cap="flat">
                <a:solidFill>
                  <a:srgbClr val="E07A2F"/>
                </a:solidFill>
                <a:prstDash val="solid"/>
                <a:round/>
              </a:ln>
              <a:effectLst/>
            </c:spPr>
          </c:marker>
          <c:cat>
            <c:multiLvlStrRef>
              <c:f>Sheet1!$A$2:$A$7</c:f>
              <c:multiLvlStrCache>
                <c:ptCount val="6"/>
                <c:lvl>
                  <c:pt idx="0">
                    <c:v>0.2</c:v>
                  </c:pt>
                  <c:pt idx="1">
                    <c:v>0.3</c:v>
                  </c:pt>
                  <c:pt idx="2">
                    <c:v>0.4</c:v>
                  </c:pt>
                  <c:pt idx="3">
                    <c:v>0.5</c:v>
                  </c:pt>
                  <c:pt idx="4">
                    <c:v>0.6</c:v>
                  </c:pt>
                  <c:pt idx="5">
                    <c:v>0.7</c:v>
                  </c:pt>
                </c:lvl>
              </c:multiLvlStrCache>
            </c:multiLvlStrRef>
          </c:cat>
          <c:val>
            <c:numRef>
              <c:f>Sheet1!$C$2:$C$7</c:f>
              <c:numCache>
                <c:formatCode>General</c:formatCode>
                <c:ptCount val="6"/>
                <c:pt idx="0">
                  <c:v>44.4</c:v>
                </c:pt>
                <c:pt idx="1">
                  <c:v>50.5</c:v>
                </c:pt>
                <c:pt idx="2">
                  <c:v>61.8</c:v>
                </c:pt>
                <c:pt idx="3">
                  <c:v>68.2</c:v>
                </c:pt>
                <c:pt idx="4">
                  <c:v>76.5</c:v>
                </c:pt>
                <c:pt idx="5">
                  <c:v>85.9</c:v>
                </c:pt>
              </c:numCache>
            </c:numRef>
          </c:val>
          <c:smooth val="0"/>
        </c:ser>
        <c:dLbls>
          <c:numFmt formatCode="#,##0" sourceLinked="0"/>
          <c:txPr>
            <a:bodyPr/>
            <a:lstStyle/>
            <a:p>
              <a:pPr>
                <a:defRPr b="0" i="0" strike="noStrike" sz="1000" u="none">
                  <a:solidFill>
                    <a:srgbClr val="1F2933"/>
                  </a:solidFill>
                  <a:latin typeface="Calibr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B6B7B"/>
                    </a:solidFill>
                    <a:latin typeface="Arial"/>
                  </a:defRPr>
                </a:pPr>
                <a:r>
                  <a:rPr sz="1100" b="0" i="0" u="none" strike="noStrike">
                    <a:solidFill>
                      <a:srgbClr val="5B6B7B"/>
                    </a:solidFill>
                    <a:latin typeface="Arial"/>
                  </a:rPr>
                  <a:t>alert threshold</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7B"/>
                </a:solidFill>
                <a:latin typeface="Calibri"/>
              </a:defRPr>
            </a:pPr>
            <a:endParaRPr lang="en-US"/>
          </a:p>
        </c:txPr>
        <c:crossAx val="2094734552"/>
        <c:crosses val="autoZero"/>
        <c:auto val="1"/>
        <c:lblAlgn val="ctr"/>
        <c:noMultiLvlLbl val="1"/>
      </c:catAx>
      <c:valAx>
        <c:axId val="2094734552"/>
        <c:scaling>
          <c:orientation val="minMax"/>
          <c:max val="100"/>
          <c:min val="40"/>
        </c:scaling>
        <c:delete val="0"/>
        <c:axPos val="l"/>
        <c:majorGridlines>
          <c:spPr>
            <a:ln w="9525" cap="flat">
              <a:solidFill>
                <a:srgbClr val="E3E8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B"/>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F2933"/>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933"/>
                </a:solidFill>
                <a:latin typeface="Calibri"/>
              </a:defRPr>
            </a:pPr>
            <a:r>
              <a:rPr sz="1300" b="0" i="0" u="none" strike="noStrike">
                <a:solidFill>
                  <a:srgbClr val="1F2933"/>
                </a:solidFill>
                <a:latin typeface="Calibri"/>
              </a:rPr>
              <a:t>Error in the predicted change of the 5-hour peak (mg/dL, lower is better)</a:t>
            </a:r>
          </a:p>
        </c:rich>
      </c:tx>
      <c:layout/>
      <c:overlay val="0"/>
    </c:title>
    <c:autoTitleDeleted val="0"/>
    <c:plotArea>
      <c:layout/>
      <c:barChart>
        <c:barDir val="col"/>
        <c:grouping val="clustered"/>
        <c:varyColors val="0"/>
        <c:ser>
          <c:idx val="0"/>
          <c:order val="0"/>
          <c:tx>
            <c:strRef>
              <c:f>Sheet1!$B$1</c:f>
              <c:strCache>
                <c:ptCount val="1"/>
                <c:pt idx="0">
                  <c:v>Personalised twin</c:v>
                </c:pt>
              </c:strCache>
            </c:strRef>
          </c:tx>
          <c:spPr>
            <a:solidFill>
              <a:srgbClr val="2F6FB0"/>
            </a:solidFill>
            <a:effectLst/>
          </c:spPr>
          <c:invertIfNegative val="0"/>
          <c:dLbls>
            <c:numFmt formatCode="0.0" sourceLinked="0"/>
            <c:txPr>
              <a:bodyPr/>
              <a:lstStyle/>
              <a:p>
                <a:pPr>
                  <a:defRPr b="0" i="0" strike="noStrike" sz="1000" u="none">
                    <a:solidFill>
                      <a:srgbClr val="1F2933"/>
                    </a:solidFill>
                    <a:latin typeface="Calibri"/>
                  </a:defRPr>
                </a:pPr>
              </a:p>
            </c:txPr>
            <c:showLegendKey val="0"/>
            <c:showVal val="1"/>
            <c:showCatName val="0"/>
            <c:showSerName val="0"/>
            <c:showPercent val="0"/>
            <c:showBubbleSize val="0"/>
            <c:showLeaderLines val="0"/>
          </c:dLbls>
          <c:cat>
            <c:multiLvlStrRef>
              <c:f>Sheet1!$A$2:$A$5</c:f>
              <c:multiLvlStrCache>
                <c:ptCount val="4"/>
                <c:lvl>
                  <c:pt idx="0">
                    <c:v>Swap to a low-GI plate</c:v>
                  </c:pt>
                  <c:pt idx="1">
                    <c:v>Half portion</c:v>
                  </c:pt>
                  <c:pt idx="2">
                    <c:v>Skip the meal</c:v>
                  </c:pt>
                  <c:pt idx="3">
                    <c:v>20-min walk after</c:v>
                  </c:pt>
                </c:lvl>
              </c:multiLvlStrCache>
            </c:multiLvlStrRef>
          </c:cat>
          <c:val>
            <c:numRef>
              <c:f>Sheet1!$B$2:$B$5</c:f>
              <c:numCache>
                <c:formatCode>General</c:formatCode>
                <c:ptCount val="4"/>
                <c:pt idx="0">
                  <c:v>13.1</c:v>
                </c:pt>
                <c:pt idx="1">
                  <c:v>13.3</c:v>
                </c:pt>
                <c:pt idx="2">
                  <c:v>27.1</c:v>
                </c:pt>
                <c:pt idx="3">
                  <c:v>3.3</c:v>
                </c:pt>
              </c:numCache>
            </c:numRef>
          </c:val>
        </c:ser>
        <c:ser>
          <c:idx val="1"/>
          <c:order val="1"/>
          <c:tx>
            <c:strRef>
              <c:f>Sheet1!$C$1</c:f>
              <c:strCache>
                <c:ptCount val="1"/>
                <c:pt idx="0">
                  <c:v>Record-only twin</c:v>
                </c:pt>
              </c:strCache>
            </c:strRef>
          </c:tx>
          <c:spPr>
            <a:solidFill>
              <a:srgbClr val="7FA7CF"/>
            </a:solidFill>
            <a:effectLst/>
          </c:spPr>
          <c:invertIfNegative val="0"/>
          <c:dLbls>
            <c:numFmt formatCode="0.0" sourceLinked="0"/>
            <c:txPr>
              <a:bodyPr/>
              <a:lstStyle/>
              <a:p>
                <a:pPr>
                  <a:defRPr b="0" i="0" strike="noStrike" sz="1000" u="none">
                    <a:solidFill>
                      <a:srgbClr val="1F2933"/>
                    </a:solidFill>
                    <a:latin typeface="Calibri"/>
                  </a:defRPr>
                </a:pPr>
              </a:p>
            </c:txPr>
            <c:showLegendKey val="0"/>
            <c:showVal val="1"/>
            <c:showCatName val="0"/>
            <c:showSerName val="0"/>
            <c:showPercent val="0"/>
            <c:showBubbleSize val="0"/>
            <c:showLeaderLines val="0"/>
          </c:dLbls>
          <c:cat>
            <c:multiLvlStrRef>
              <c:f>Sheet1!$A$2:$A$5</c:f>
              <c:multiLvlStrCache>
                <c:ptCount val="4"/>
                <c:lvl>
                  <c:pt idx="0">
                    <c:v>Swap to a low-GI plate</c:v>
                  </c:pt>
                  <c:pt idx="1">
                    <c:v>Half portion</c:v>
                  </c:pt>
                  <c:pt idx="2">
                    <c:v>Skip the meal</c:v>
                  </c:pt>
                  <c:pt idx="3">
                    <c:v>20-min walk after</c:v>
                  </c:pt>
                </c:lvl>
              </c:multiLvlStrCache>
            </c:multiLvlStrRef>
          </c:cat>
          <c:val>
            <c:numRef>
              <c:f>Sheet1!$C$2:$C$5</c:f>
              <c:numCache>
                <c:formatCode>General</c:formatCode>
                <c:ptCount val="4"/>
                <c:pt idx="0">
                  <c:v>16.2</c:v>
                </c:pt>
                <c:pt idx="1">
                  <c:v>13</c:v>
                </c:pt>
                <c:pt idx="2">
                  <c:v>25.8</c:v>
                </c:pt>
                <c:pt idx="3">
                  <c:v>3.3</c:v>
                </c:pt>
              </c:numCache>
            </c:numRef>
          </c:val>
        </c:ser>
        <c:ser>
          <c:idx val="2"/>
          <c:order val="2"/>
          <c:tx>
            <c:strRef>
              <c:f>Sheet1!$D$1</c:f>
              <c:strCache>
                <c:ptCount val="1"/>
                <c:pt idx="0">
                  <c:v>Cohort average</c:v>
                </c:pt>
              </c:strCache>
            </c:strRef>
          </c:tx>
          <c:spPr>
            <a:solidFill>
              <a:srgbClr val="9AA5B1"/>
            </a:solidFill>
            <a:effectLst/>
          </c:spPr>
          <c:invertIfNegative val="0"/>
          <c:dLbls>
            <c:numFmt formatCode="0.0" sourceLinked="0"/>
            <c:txPr>
              <a:bodyPr/>
              <a:lstStyle/>
              <a:p>
                <a:pPr>
                  <a:defRPr b="0" i="0" strike="noStrike" sz="1000" u="none">
                    <a:solidFill>
                      <a:srgbClr val="1F2933"/>
                    </a:solidFill>
                    <a:latin typeface="Calibri"/>
                  </a:defRPr>
                </a:pPr>
              </a:p>
            </c:txPr>
            <c:showLegendKey val="0"/>
            <c:showVal val="1"/>
            <c:showCatName val="0"/>
            <c:showSerName val="0"/>
            <c:showPercent val="0"/>
            <c:showBubbleSize val="0"/>
            <c:showLeaderLines val="0"/>
          </c:dLbls>
          <c:cat>
            <c:multiLvlStrRef>
              <c:f>Sheet1!$A$2:$A$5</c:f>
              <c:multiLvlStrCache>
                <c:ptCount val="4"/>
                <c:lvl>
                  <c:pt idx="0">
                    <c:v>Swap to a low-GI plate</c:v>
                  </c:pt>
                  <c:pt idx="1">
                    <c:v>Half portion</c:v>
                  </c:pt>
                  <c:pt idx="2">
                    <c:v>Skip the meal</c:v>
                  </c:pt>
                  <c:pt idx="3">
                    <c:v>20-min walk after</c:v>
                  </c:pt>
                </c:lvl>
              </c:multiLvlStrCache>
            </c:multiLvlStrRef>
          </c:cat>
          <c:val>
            <c:numRef>
              <c:f>Sheet1!$D$2:$D$5</c:f>
              <c:numCache>
                <c:formatCode>General</c:formatCode>
                <c:ptCount val="4"/>
                <c:pt idx="0">
                  <c:v>31</c:v>
                </c:pt>
                <c:pt idx="1">
                  <c:v>15.5</c:v>
                </c:pt>
                <c:pt idx="2">
                  <c:v>34.7</c:v>
                </c:pt>
                <c:pt idx="3">
                  <c:v>2.7</c:v>
                </c:pt>
              </c:numCache>
            </c:numRef>
          </c:val>
        </c:ser>
        <c:dLbls>
          <c:numFmt formatCode="0.0" sourceLinked="0"/>
          <c:txPr>
            <a:bodyPr/>
            <a:lstStyle/>
            <a:p>
              <a:pPr>
                <a:defRPr b="0" i="0" strike="noStrike" sz="1000" u="none">
                  <a:solidFill>
                    <a:srgbClr val="1F29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7B"/>
                </a:solidFill>
                <a:latin typeface="Calibri"/>
              </a:defRPr>
            </a:pPr>
            <a:endParaRPr lang="en-US"/>
          </a:p>
        </c:txPr>
        <c:crossAx val="2094734552"/>
        <c:crosses val="autoZero"/>
        <c:auto val="1"/>
        <c:lblAlgn val="ctr"/>
        <c:noMultiLvlLbl val="1"/>
      </c:catAx>
      <c:valAx>
        <c:axId val="2094734552"/>
        <c:scaling>
          <c:orientation val="minMax"/>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B"/>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F2933"/>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I am Shashi Bhushan from VIT Vellore, presenting team AMRIT_VIT's entry. This is a proof-of-concept digital twin of a person with Type 2 diabetes. It fuses the static clinical record with continuous glucose monitor and wearable streams, predicts a glucose spike about two hours ahead, explains the prediction in clinical language, and lets a doctor ask what-if questions on a personalised physiological model of that patient. Every patient you will see is synthetic; real open datasets were used only to calibrate and validate the simulator.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condition is Type 2 diabetes, chosen because India carries one of the largest burdens in the world: the ICMR-INDIAB study estimated about 101 million adults with diabetes in 2023. HbA1c, the routine control marker, is a three-month average and hides when and why glucose spikes. Continuous glucose monitors and wearables fill that gap, but they generate thousands of readings that a doctor cannot read in a few minutes. And because real patient data is protected under the DPDP Act, we built everything on realistic synthetic patients. The use case is a diabetologist following CGM-wearing patients who needs to know who needs attention now, why, and what change to discuss.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twin fuses two kinds of input, exactly as the brief asks. On the left, the static record: demographics, HbA1c and its trend, kidney and liver markers, medicines with adherence, allergies and diet type. And the dynamic streams: CGM every five minutes, heart rate, HRV, sleep stages, steps, and an optional meal log. From these it does three things. It predicts, with a calibrated probability and a forecast band. It explains, in clinical sentences. And it simulates, using a physiological model personalised to the patient, so the doctor can test a change before suggesting it. Deliberately, no genetic markers are used; they are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system. Left to right: the synthetic data generator in four layers, the data stores, where what a clinic would observe is kept strictly apart from the simulator's hidden truth, then the two engines: the LightGBM prediction and explanation models, and the personalised ODE twin. Both feed the Streamlit dashboard through a small service layer, so dashboard code stays separate from model code. The real open datasets, Shanghai T2DM and CGMacros, only touch calibration and validation; they are never used for training. Everything is config-driven and reproducible from one seed. The same diagram is in the repository as docs/architecture.pdf.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synthetic data is built in four layers. First the cohort: a Gaussian copula samples correlated clinical values with Indian-clinic distributions, then allergies, diet type and medicines assigned by kidney-aware rules. Second, hidden physiology: each patient gets insulin sensitivity, beta-cell function and liver glucose output, derived from the record but with variation the record cannot explain, so models cannot simply rediscover a rule. A glucose-insulin differential equation model then simulates every minute. Third, behaviour: 47 Indian meals, realistic timing, walks, sleep, stress and illness days, missed doses, and a meal log that is incomplete, like real life. Fourth, sensor realism: CGM lag, noise, drift and gaps, and wearable artefacts. The result is 400 patients over 14 days, 1.6 million CGM readings.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three synthetic patients look like over three days. The grey line is the true plasma glucose, which no model ever sees. The blue dots are what the CGM reports, including lag, noise and dropouts. Carbohydrate labels, steps and sleep strips come from the behaviour layer. Notice how differently the three people respond: the top patient with HbA1c 7 still spikes after large meals, while the bottom patient with HbA1c 13 never gets back into range. Keeping the true values lets us validate the models and the what-if twin against ground truth, which is impossible with real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 the synthetic data realistic? We checked against two open real datasets: Shanghai T2DM and CGMacros. Real data was used only to tune seven population-level settings on half the Shanghai patients and to validate on the rest; it never trains the product models. One finding: real CGM runs well below the level HbA1c implies, because recordings capture monitored, treated periods, so comparisons are level-matched. On the held-out half, 12 of 14 dynamics metrics fall within half an interquartile range of the real data. The strongest test is train-on-synthetic, test-on-real: a forecaster trained only on synthetic patients beats persistence on real patients and comes close to one trained on real data. And we are honest about the gap: a classifier still separates real from synthetic windows with AUC 0.95, mostly because real glucose falls faster after peaks.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prediction model. It is a LightGBM model that fuses CGM features, wearable summaries, the record and the meal log, built strictly from data up to the prediction moment, with a test that proves no future data leaks in. On 60 held-out patients, the 60-minute forecast error is 14.1 mg/dL against 24.6 for persistence, and 99.6 % of forecasts fall in Clarke error-grid zones A and B. The 80 % band is conformal-calibrated and covers 79 % of outcomes. For spike detection, PR-AUC is 0.848 and the probabilities are isotonic-calibrated, with a Brier score of 0.115, so 70 % really means about 70 %. At the default threshold the median warning is 80 minutes before the spike.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Does fusion actually help? We ran an ablation ladder: persistence, CGM only, then adding wearables, the record and the meal log, and compared them with paired patient-level bootstrap intervals. The honest answer is nuanced. The meal log is the clear winner. Wearables slightly hurt overall but help exactly where physiology says they should, right after a walk. The record adds a small gain in a patient's first day, when CGM history is short. And following the brief's point about messy inputs, we report the model without any meal log: it still beats persistence by a wide margin. With hours of CGM history, the glucose trace itself carries most of what the record tells you about today; the record matters most for new patients and for the twin.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good model is not enough; alerts must be usable. Alert fatigue is a real problem in clinics, so the dashboard has a sensitivity slider mapped to the model's operating point. This chart shows the trade-off on test patients. We chose 0.5 as the default: it catches 92 % of spikes with a median warning of 80 minutes, and produces 0.69 false alert episodes per patient per day. A doctor who wants to miss fewer spikes can move the slider down, accepting more alarms, and the screen always shows the resulting catch rate and false alerts per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alert comes with a reason. We run SHAP on the predicted two-hour peak, so contributions are in mg/dL, not log-odds. Features are grouped into clinical concepts, such as recent glucose trend, logged meals, baseline control or last night's sleep, and compared with similar patients of the same age band and diabetes duration. The top drivers become sentences like 'Logged meal of about 80 g carbohydrate 1 minute ago, plus 37 mg/dL'. Contributions sum exactly to the prediction. Because we own the hidden truth, we validated the explanations: after a large logged meal, logged meals is a top-3 driver 99.8 % of the time; removing the top drivers moves the prediction far more than removing random ones; and similar moments get similar explanations. One important safety rule: SHAP is never presented as an intervention.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twin is a glucose-insulin model personalised to each patient: it starts from the physiology implied by the record, then fits insulin sensitivity, beta-cell function and the fasting set point to a week of the patient's own CGM and meal log. It never reads the simulator's hidden values. Can we trust its what-if answers? With synthetic data we can check: we replay each test patient's day with the change applied to their true meals and doses, and compare with what the twin predicted. The personalised twin beats the cohort average for every meal change, gets the direction right for 94 % of patients, and personalisation clearly helps for dish swaps. We also report where it is weak: large cuts are under-estimated, and a short walk's effect is too small to predict usefully.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Safety is built into the flow. First, constraints: before anything is simulated, options that conflict with the patient's diet, allergies, intolerances or kidney function are blocked and the reason is shown, for example metformin limited to 1000 mg a day at an eGFR of 40. Second, allowed options are simulated on the personalised twin. Third, every result carries a hypoglycaemia check with the patient's risk factors, such as sulfonylurea use, lower eGFR or older age. We stress-tested this on sulfonylurea users given the maximum dose with breakfast skipped: all true lows were at least flagged as caution, with no false alarms. Every result says it is a simulation for discussion, not a prescription, and the rules are listed for review by a clinician.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screen a doctor sees, built in Streamlit and Plotly. A persistent banner says synthetic patient, decision support only. The header shows the patient, the alert chip and one plain-language sentence with the timing, the peak and its range. The hero chart shows the last 24 hours of CGM and the two-hour forecast with its band, with meals marked, and the wearable strip on the same time axis. On the left is the record with the HbA1c trend, kidney function, medicines and allergy badges, and below it the twin's state: insulin sensitivity and secretion compared with similar patients. The sidebar has three scripted demo scenes, a replay button, and the alert-sensitivity slider.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What-if tab lets the doctor pick a change: swap the next meal for another Indian dish, change the portion, add a walk, skip a meal, or change a medicine. Patient factors that were considered appear as chips at the top. Blocked options are listed with their reasons. The result shows the current plan and the change side by side, with the peak, minutes above 180, the lowest glucose, and the hypoglycaemia check. The Triage tab ranks every patient at a given clinic time, predicted lows first and then the highest predicted two-hour peak, each with a one-line reason and a data-quality flag, so the doctor knows whom to open first. A fourth tab, About this twin, shows the evaluation, real-data validation and limitations.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designed for responsible data use from the start. There is no personal data anywhere. Real open datasets are downloaded by script, never committed, used only for calibration and validation, and their licences are respected. The simulator's hidden truth is kept apart, and tests check that nothing hidden leaks into the models. Every value taken from literature is tagged with its source and whether it has been verified. And we are open about the limitations: models trained on simulated patients can partly rediscover the simulator's assumptions, so the scores are an upper bound; the real validation sets are small and not Indian; the twin's parameters are uncertain after one week; and the Indian parameters and drug rules need clinical review before any real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this twin lets a doctor triage CGM-monitored patients by two-hour risk, see alerts about 80 minutes ahead with reasons in clinical language, and try meal, walk and medicine changes on the patient's own physiological model, with Indian foods and safety checks built in, all developed without touching a real patient record. The next steps are validation on an Indian CGM cohort, clinical review of the rules, more drug classes, patient-side nudges in regional languages, and a silent-mode prospective study. The code, data card, reports and this deck are in the public repository.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44D"/>
        </a:solidFill>
      </p:bgPr>
    </p:bg>
    <p:spTree>
      <p:nvGrpSpPr>
        <p:cNvPr id="1" name=""/>
        <p:cNvGrpSpPr/>
        <p:nvPr/>
      </p:nvGrpSpPr>
      <p:grpSpPr>
        <a:xfrm>
          <a:off x="0" y="0"/>
          <a:ext cx="0" cy="0"/>
          <a:chOff x="0" y="0"/>
          <a:chExt cx="0" cy="0"/>
        </a:xfrm>
      </p:grpSpPr>
      <p:sp>
        <p:nvSpPr>
          <p:cNvPr id="2" name="Text 0"/>
          <p:cNvSpPr txBox="1"/>
          <p:nvPr/>
        </p:nvSpPr>
        <p:spPr>
          <a:xfrm>
            <a:off x="640080" y="685800"/>
            <a:ext cx="6400800" cy="320040"/>
          </a:xfrm>
          <a:prstGeom prst="rect">
            <a:avLst/>
          </a:prstGeom>
          <a:noFill/>
          <a:ln/>
        </p:spPr>
        <p:txBody>
          <a:bodyPr wrap="square" lIns="0" tIns="0" rIns="0" bIns="0" rtlCol="0" anchor="ctr"/>
          <a:lstStyle/>
          <a:p>
            <a:pPr indent="0" marL="0">
              <a:buNone/>
            </a:pPr>
            <a:r>
              <a:rPr lang="en-US" sz="1300" b="1" spc="200" kern="0" dirty="0">
                <a:solidFill>
                  <a:srgbClr val="E07A2F"/>
                </a:solidFill>
                <a:latin typeface="Calibri" pitchFamily="34" charset="0"/>
                <a:ea typeface="Calibri" pitchFamily="34" charset="-122"/>
                <a:cs typeface="Calibri" pitchFamily="34" charset="-120"/>
              </a:rPr>
              <a:t>DIGITAL TWIN CHALLENGE 2026  ·  HAPPIEST HEALTH</a:t>
            </a:r>
            <a:endParaRPr lang="en-US" sz="1300" dirty="0"/>
          </a:p>
        </p:txBody>
      </p:sp>
      <p:sp>
        <p:nvSpPr>
          <p:cNvPr id="3" name="Text 1"/>
          <p:cNvSpPr txBox="1"/>
          <p:nvPr/>
        </p:nvSpPr>
        <p:spPr>
          <a:xfrm>
            <a:off x="640080" y="1143000"/>
            <a:ext cx="6035040" cy="1554480"/>
          </a:xfrm>
          <a:prstGeom prst="rect">
            <a:avLst/>
          </a:prstGeom>
          <a:noFill/>
          <a:ln/>
        </p:spPr>
        <p:txBody>
          <a:bodyPr wrap="square" lIns="0" tIns="0" rIns="0" bIns="0" rtlCol="0" anchor="t"/>
          <a:lstStyle/>
          <a:p>
            <a:pPr indent="0" marL="0">
              <a:buNone/>
            </a:pPr>
            <a:r>
              <a:rPr lang="en-US" sz="4200" b="1" dirty="0">
                <a:solidFill>
                  <a:srgbClr val="FFFFFF"/>
                </a:solidFill>
                <a:latin typeface="Cambria" pitchFamily="34" charset="0"/>
                <a:ea typeface="Cambria" pitchFamily="34" charset="-122"/>
                <a:cs typeface="Cambria" pitchFamily="34" charset="-120"/>
              </a:rPr>
              <a:t>A digital twin for Type 2 diabetes</a:t>
            </a:r>
            <a:endParaRPr lang="en-US" sz="4200" dirty="0"/>
          </a:p>
        </p:txBody>
      </p:sp>
      <p:sp>
        <p:nvSpPr>
          <p:cNvPr id="4" name="Text 2"/>
          <p:cNvSpPr txBox="1"/>
          <p:nvPr/>
        </p:nvSpPr>
        <p:spPr>
          <a:xfrm>
            <a:off x="640080" y="2834640"/>
            <a:ext cx="5669280" cy="1188720"/>
          </a:xfrm>
          <a:prstGeom prst="rect">
            <a:avLst/>
          </a:prstGeom>
          <a:noFill/>
          <a:ln/>
        </p:spPr>
        <p:txBody>
          <a:bodyPr wrap="square" lIns="0" tIns="0" rIns="0" bIns="0" rtlCol="0" anchor="t"/>
          <a:lstStyle/>
          <a:p>
            <a:pPr indent="0" marL="0">
              <a:buNone/>
            </a:pPr>
            <a:r>
              <a:rPr lang="en-US" sz="1800" dirty="0">
                <a:solidFill>
                  <a:srgbClr val="CADCFC"/>
                </a:solidFill>
                <a:latin typeface="Calibri" pitchFamily="34" charset="0"/>
                <a:ea typeface="Calibri" pitchFamily="34" charset="-122"/>
                <a:cs typeface="Calibri" pitchFamily="34" charset="-120"/>
              </a:rPr>
              <a:t>Predicts a glucose spike about 2 hours ahead, explains why in clinical language, and lets a doctor test what-ifs on a personalised virtual patient.</a:t>
            </a:r>
            <a:endParaRPr lang="en-US" sz="1800" dirty="0"/>
          </a:p>
        </p:txBody>
      </p:sp>
      <p:sp>
        <p:nvSpPr>
          <p:cNvPr id="5" name="Text 3"/>
          <p:cNvSpPr txBox="1"/>
          <p:nvPr/>
        </p:nvSpPr>
        <p:spPr>
          <a:xfrm>
            <a:off x="640080" y="4343400"/>
            <a:ext cx="5669280" cy="109728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Team AMRIT_VIT</a:t>
            </a:r>
            <a:endParaRPr lang="en-US" sz="1800" dirty="0"/>
          </a:p>
          <a:p>
            <a:pPr indent="0" marL="0">
              <a:buNone/>
            </a:pPr>
            <a:r>
              <a:rPr lang="en-US" sz="1500" dirty="0">
                <a:solidFill>
                  <a:srgbClr val="CADCFC"/>
                </a:solidFill>
                <a:latin typeface="Calibri" pitchFamily="34" charset="0"/>
                <a:ea typeface="Calibri" pitchFamily="34" charset="-122"/>
                <a:cs typeface="Calibri" pitchFamily="34" charset="-120"/>
              </a:rPr>
              <a:t>Shashi Bhushan (team leader)</a:t>
            </a:r>
            <a:endParaRPr lang="en-US" sz="1800" dirty="0"/>
          </a:p>
          <a:p>
            <a:pPr indent="0" marL="0">
              <a:buNone/>
            </a:pPr>
            <a:r>
              <a:rPr lang="en-US" sz="1500" dirty="0">
                <a:solidFill>
                  <a:srgbClr val="CADCFC"/>
                </a:solidFill>
                <a:latin typeface="Calibri" pitchFamily="34" charset="0"/>
                <a:ea typeface="Calibri" pitchFamily="34" charset="-122"/>
                <a:cs typeface="Calibri" pitchFamily="34" charset="-120"/>
              </a:rPr>
              <a:t>Vellore Institute of Technology (VIT), Vellore</a:t>
            </a:r>
            <a:endParaRPr lang="en-US" sz="1800" dirty="0"/>
          </a:p>
        </p:txBody>
      </p:sp>
      <p:sp>
        <p:nvSpPr>
          <p:cNvPr id="6" name="Text 4"/>
          <p:cNvSpPr txBox="1"/>
          <p:nvPr/>
        </p:nvSpPr>
        <p:spPr>
          <a:xfrm>
            <a:off x="640080" y="5989320"/>
            <a:ext cx="6400800" cy="320040"/>
          </a:xfrm>
          <a:prstGeom prst="rect">
            <a:avLst/>
          </a:prstGeom>
          <a:noFill/>
          <a:ln/>
        </p:spPr>
        <p:txBody>
          <a:bodyPr wrap="square" lIns="0" tIns="0" rIns="0" bIns="0" rtlCol="0" anchor="ctr"/>
          <a:lstStyle/>
          <a:p>
            <a:pPr indent="0" marL="0">
              <a:buNone/>
            </a:pPr>
            <a:r>
              <a:rPr lang="en-US" sz="1100" i="1" dirty="0">
                <a:solidFill>
                  <a:srgbClr val="8FA6BD"/>
                </a:solidFill>
                <a:latin typeface="Calibri" pitchFamily="34" charset="0"/>
                <a:ea typeface="Calibri" pitchFamily="34" charset="-122"/>
                <a:cs typeface="Calibri" pitchFamily="34" charset="-120"/>
              </a:rPr>
              <a:t>Synthetic patients only. Decision support prototype, not a medical device.</a:t>
            </a:r>
            <a:endParaRPr lang="en-US" sz="1100" dirty="0"/>
          </a:p>
        </p:txBody>
      </p:sp>
      <p:sp>
        <p:nvSpPr>
          <p:cNvPr id="7" name="Shape 5"/>
          <p:cNvSpPr/>
          <p:nvPr/>
        </p:nvSpPr>
        <p:spPr>
          <a:xfrm>
            <a:off x="6812280" y="914400"/>
            <a:ext cx="4846320" cy="4846320"/>
          </a:xfrm>
          <a:prstGeom prst="roundRect">
            <a:avLst>
              <a:gd name="adj" fmla="val 1509"/>
            </a:avLst>
          </a:prstGeom>
          <a:solidFill>
            <a:srgbClr val="FFFFFF"/>
          </a:solidFill>
          <a:ln w="12700">
            <a:solidFill>
              <a:srgbClr val="FFFFFF"/>
            </a:solidFill>
            <a:prstDash val="solid"/>
          </a:ln>
        </p:spPr>
      </p:sp>
      <p:pic>
        <p:nvPicPr>
          <p:cNvPr id="8" name="Image 0" descr="Dashboard chart: 24 hours of CGM with the 2-hour forecast band and wearable strips">    </p:cNvPr>
          <p:cNvPicPr>
            <a:picLocks noChangeAspect="1"/>
          </p:cNvPicPr>
          <p:nvPr/>
        </p:nvPicPr>
        <p:blipFill>
          <a:blip r:embed="rId1"/>
          <a:stretch>
            <a:fillRect/>
          </a:stretch>
        </p:blipFill>
        <p:spPr>
          <a:xfrm>
            <a:off x="6949440" y="1216131"/>
            <a:ext cx="4572000" cy="424285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lstStyle/>
          <a:p>
            <a:pPr indent="0" marL="0">
              <a:buNone/>
            </a:pPr>
            <a:r>
              <a:rPr lang="en-US" sz="3000" b="1" dirty="0">
                <a:solidFill>
                  <a:srgbClr val="12344D"/>
                </a:solidFill>
                <a:latin typeface="Cambria" pitchFamily="34" charset="0"/>
                <a:ea typeface="Cambria" pitchFamily="34" charset="-122"/>
                <a:cs typeface="Cambria" pitchFamily="34" charset="-120"/>
              </a:rPr>
              <a:t>The problem: plenty of glucose data, a few minutes per patient</a:t>
            </a:r>
            <a:endParaRPr lang="en-US" sz="3000" dirty="0"/>
          </a:p>
        </p:txBody>
      </p:sp>
      <p:sp>
        <p:nvSpPr>
          <p:cNvPr id="3" name="Text 1"/>
          <p:cNvSpPr txBox="1"/>
          <p:nvPr/>
        </p:nvSpPr>
        <p:spPr>
          <a:xfrm>
            <a:off x="548640" y="1325880"/>
            <a:ext cx="6583680" cy="329184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India has an estimated 101 million adults with diabetes (ICMR-INDIAB, 2023). Type 2 diabetes often starts younger and at a lower BMI than in Western cohorts.</a:t>
            </a:r>
            <a:endParaRPr lang="en-US" sz="1600" dirty="0"/>
          </a:p>
          <a:p>
            <a:pPr marL="203200" indent="-2032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HbA1c is a three-month average: it cannot show when, or why, glucose spikes after today's meals.</a:t>
            </a:r>
            <a:endParaRPr lang="en-US" sz="1600" dirty="0"/>
          </a:p>
          <a:p>
            <a:pPr marL="203200" indent="-2032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A CGM gives 288 readings a day, and a wrist wearable adds heart rate, HRV, sleep and steps. Nobody can read all of it in a short consultation.</a:t>
            </a:r>
            <a:endParaRPr lang="en-US" sz="1600" dirty="0"/>
          </a:p>
          <a:p>
            <a:pPr marL="203200" indent="-2032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Real patient data cannot be freely shared to build AI (DPDP Act 2023), so development needs realistic synthetic patients.</a:t>
            </a:r>
            <a:endParaRPr lang="en-US" sz="1600" dirty="0"/>
          </a:p>
        </p:txBody>
      </p:sp>
      <p:sp>
        <p:nvSpPr>
          <p:cNvPr id="4" name="Shape 2"/>
          <p:cNvSpPr/>
          <p:nvPr/>
        </p:nvSpPr>
        <p:spPr>
          <a:xfrm>
            <a:off x="548640" y="4754880"/>
            <a:ext cx="6583680" cy="1417320"/>
          </a:xfrm>
          <a:prstGeom prst="roundRect">
            <a:avLst>
              <a:gd name="adj" fmla="val 5161"/>
            </a:avLst>
          </a:prstGeom>
          <a:solidFill>
            <a:srgbClr val="F2F5F9"/>
          </a:solidFill>
          <a:ln w="12700">
            <a:solidFill>
              <a:srgbClr val="F2F5F9"/>
            </a:solidFill>
            <a:prstDash val="solid"/>
          </a:ln>
        </p:spPr>
      </p:sp>
      <p:sp>
        <p:nvSpPr>
          <p:cNvPr id="5" name="Text 3"/>
          <p:cNvSpPr txBox="1"/>
          <p:nvPr/>
        </p:nvSpPr>
        <p:spPr>
          <a:xfrm>
            <a:off x="777240" y="4846320"/>
            <a:ext cx="6126480" cy="1234440"/>
          </a:xfrm>
          <a:prstGeom prst="rect">
            <a:avLst/>
          </a:prstGeom>
          <a:noFill/>
          <a:ln/>
        </p:spPr>
        <p:txBody>
          <a:bodyPr wrap="square" lIns="0" tIns="0" rIns="0" bIns="0" rtlCol="0" anchor="ctr"/>
          <a:lstStyle/>
          <a:p>
            <a:pPr indent="0" marL="0">
              <a:buNone/>
            </a:pPr>
            <a:r>
              <a:rPr lang="en-US" sz="1500" b="1" dirty="0">
                <a:solidFill>
                  <a:srgbClr val="12344D"/>
                </a:solidFill>
                <a:latin typeface="Calibri" pitchFamily="34" charset="0"/>
                <a:ea typeface="Calibri" pitchFamily="34" charset="-122"/>
                <a:cs typeface="Calibri" pitchFamily="34" charset="-120"/>
              </a:rPr>
              <a:t>Healthcare use case</a:t>
            </a:r>
            <a:endParaRPr lang="en-US" sz="1500" dirty="0"/>
          </a:p>
          <a:p>
            <a:pPr indent="0" marL="0">
              <a:buNone/>
            </a:pPr>
            <a:r>
              <a:rPr lang="en-US" sz="1400" dirty="0">
                <a:solidFill>
                  <a:srgbClr val="1F2933"/>
                </a:solidFill>
                <a:latin typeface="Calibri" pitchFamily="34" charset="0"/>
                <a:ea typeface="Calibri" pitchFamily="34" charset="-122"/>
                <a:cs typeface="Calibri" pitchFamily="34" charset="-120"/>
              </a:rPr>
              <a:t>A diabetologist following CGM-wearing Type 2 patients, in clinic or remotely: who needs attention in the next 2 hours, why, and which change to discuss (a meal, a walk, or a medicine).</a:t>
            </a:r>
            <a:endParaRPr lang="en-US" sz="1500" dirty="0"/>
          </a:p>
        </p:txBody>
      </p:sp>
      <p:sp>
        <p:nvSpPr>
          <p:cNvPr id="6" name="Shape 4"/>
          <p:cNvSpPr/>
          <p:nvPr/>
        </p:nvSpPr>
        <p:spPr>
          <a:xfrm>
            <a:off x="7726680" y="1325880"/>
            <a:ext cx="3931920" cy="1463040"/>
          </a:xfrm>
          <a:prstGeom prst="roundRect">
            <a:avLst>
              <a:gd name="adj" fmla="val 5000"/>
            </a:avLst>
          </a:prstGeom>
          <a:solidFill>
            <a:srgbClr val="F2F5F9"/>
          </a:solidFill>
          <a:ln w="12700">
            <a:solidFill>
              <a:srgbClr val="F2F5F9"/>
            </a:solidFill>
            <a:prstDash val="solid"/>
          </a:ln>
        </p:spPr>
      </p:sp>
      <p:sp>
        <p:nvSpPr>
          <p:cNvPr id="7" name="Text 5"/>
          <p:cNvSpPr txBox="1"/>
          <p:nvPr/>
        </p:nvSpPr>
        <p:spPr>
          <a:xfrm>
            <a:off x="8001000" y="1417320"/>
            <a:ext cx="3474720" cy="566928"/>
          </a:xfrm>
          <a:prstGeom prst="rect">
            <a:avLst/>
          </a:prstGeom>
          <a:noFill/>
          <a:ln/>
        </p:spPr>
        <p:txBody>
          <a:bodyPr wrap="square" lIns="0" tIns="0" rIns="0" bIns="0" rtlCol="0" anchor="b"/>
          <a:lstStyle/>
          <a:p>
            <a:pPr indent="0" marL="0">
              <a:buNone/>
            </a:pPr>
            <a:r>
              <a:rPr lang="en-US" sz="3600" b="1" dirty="0">
                <a:solidFill>
                  <a:srgbClr val="E07A2F"/>
                </a:solidFill>
                <a:latin typeface="Cambria" pitchFamily="34" charset="0"/>
                <a:ea typeface="Cambria" pitchFamily="34" charset="-122"/>
                <a:cs typeface="Cambria" pitchFamily="34" charset="-120"/>
              </a:rPr>
              <a:t>101 M</a:t>
            </a:r>
            <a:endParaRPr lang="en-US" sz="3600" dirty="0"/>
          </a:p>
        </p:txBody>
      </p:sp>
      <p:sp>
        <p:nvSpPr>
          <p:cNvPr id="8" name="Text 6"/>
          <p:cNvSpPr txBox="1"/>
          <p:nvPr/>
        </p:nvSpPr>
        <p:spPr>
          <a:xfrm>
            <a:off x="8001000" y="2020824"/>
            <a:ext cx="3474720" cy="502920"/>
          </a:xfrm>
          <a:prstGeom prst="rect">
            <a:avLst/>
          </a:prstGeom>
          <a:noFill/>
          <a:ln/>
        </p:spPr>
        <p:txBody>
          <a:bodyPr wrap="square" lIns="0" tIns="0" rIns="0" bIns="0" rtlCol="0" anchor="t"/>
          <a:lstStyle/>
          <a:p>
            <a:pPr indent="0" marL="0">
              <a:buNone/>
            </a:pPr>
            <a:r>
              <a:rPr lang="en-US" sz="1200" dirty="0">
                <a:solidFill>
                  <a:srgbClr val="5B6B7B"/>
                </a:solidFill>
                <a:latin typeface="Calibri" pitchFamily="34" charset="0"/>
                <a:ea typeface="Calibri" pitchFamily="34" charset="-122"/>
                <a:cs typeface="Calibri" pitchFamily="34" charset="-120"/>
              </a:rPr>
              <a:t>adults with diabetes in India (ICMR-INDIAB, Lancet Diabetes Endocrinol 2023)</a:t>
            </a:r>
            <a:endParaRPr lang="en-US" sz="1200" dirty="0"/>
          </a:p>
        </p:txBody>
      </p:sp>
      <p:sp>
        <p:nvSpPr>
          <p:cNvPr id="9" name="Shape 7"/>
          <p:cNvSpPr/>
          <p:nvPr/>
        </p:nvSpPr>
        <p:spPr>
          <a:xfrm>
            <a:off x="7726680" y="2971800"/>
            <a:ext cx="3931920" cy="1463040"/>
          </a:xfrm>
          <a:prstGeom prst="roundRect">
            <a:avLst>
              <a:gd name="adj" fmla="val 5000"/>
            </a:avLst>
          </a:prstGeom>
          <a:solidFill>
            <a:srgbClr val="F2F5F9"/>
          </a:solidFill>
          <a:ln w="12700">
            <a:solidFill>
              <a:srgbClr val="F2F5F9"/>
            </a:solidFill>
            <a:prstDash val="solid"/>
          </a:ln>
        </p:spPr>
      </p:sp>
      <p:sp>
        <p:nvSpPr>
          <p:cNvPr id="10" name="Text 8"/>
          <p:cNvSpPr txBox="1"/>
          <p:nvPr/>
        </p:nvSpPr>
        <p:spPr>
          <a:xfrm>
            <a:off x="8001000" y="3063240"/>
            <a:ext cx="3474720" cy="566928"/>
          </a:xfrm>
          <a:prstGeom prst="rect">
            <a:avLst/>
          </a:prstGeom>
          <a:noFill/>
          <a:ln/>
        </p:spPr>
        <p:txBody>
          <a:bodyPr wrap="square" lIns="0" tIns="0" rIns="0" bIns="0" rtlCol="0" anchor="b"/>
          <a:lstStyle/>
          <a:p>
            <a:pPr indent="0" marL="0">
              <a:buNone/>
            </a:pPr>
            <a:r>
              <a:rPr lang="en-US" sz="3600" b="1" dirty="0">
                <a:solidFill>
                  <a:srgbClr val="2F6FB0"/>
                </a:solidFill>
                <a:latin typeface="Cambria" pitchFamily="34" charset="0"/>
                <a:ea typeface="Cambria" pitchFamily="34" charset="-122"/>
                <a:cs typeface="Cambria" pitchFamily="34" charset="-120"/>
              </a:rPr>
              <a:t>4,032</a:t>
            </a:r>
            <a:endParaRPr lang="en-US" sz="3600" dirty="0"/>
          </a:p>
        </p:txBody>
      </p:sp>
      <p:sp>
        <p:nvSpPr>
          <p:cNvPr id="11" name="Text 9"/>
          <p:cNvSpPr txBox="1"/>
          <p:nvPr/>
        </p:nvSpPr>
        <p:spPr>
          <a:xfrm>
            <a:off x="8001000" y="3666744"/>
            <a:ext cx="3474720" cy="502920"/>
          </a:xfrm>
          <a:prstGeom prst="rect">
            <a:avLst/>
          </a:prstGeom>
          <a:noFill/>
          <a:ln/>
        </p:spPr>
        <p:txBody>
          <a:bodyPr wrap="square" lIns="0" tIns="0" rIns="0" bIns="0" rtlCol="0" anchor="t"/>
          <a:lstStyle/>
          <a:p>
            <a:pPr indent="0" marL="0">
              <a:buNone/>
            </a:pPr>
            <a:r>
              <a:rPr lang="en-US" sz="1200" dirty="0">
                <a:solidFill>
                  <a:srgbClr val="5B6B7B"/>
                </a:solidFill>
                <a:latin typeface="Calibri" pitchFamily="34" charset="0"/>
                <a:ea typeface="Calibri" pitchFamily="34" charset="-122"/>
                <a:cs typeface="Calibri" pitchFamily="34" charset="-120"/>
              </a:rPr>
              <a:t>CGM readings per patient in two weeks (one every 5 minutes)</a:t>
            </a:r>
            <a:endParaRPr lang="en-US" sz="1200" dirty="0"/>
          </a:p>
        </p:txBody>
      </p:sp>
      <p:sp>
        <p:nvSpPr>
          <p:cNvPr id="12" name="Shape 10"/>
          <p:cNvSpPr/>
          <p:nvPr/>
        </p:nvSpPr>
        <p:spPr>
          <a:xfrm>
            <a:off x="7726680" y="4617720"/>
            <a:ext cx="3931920" cy="1463040"/>
          </a:xfrm>
          <a:prstGeom prst="roundRect">
            <a:avLst>
              <a:gd name="adj" fmla="val 5000"/>
            </a:avLst>
          </a:prstGeom>
          <a:solidFill>
            <a:srgbClr val="F2F5F9"/>
          </a:solidFill>
          <a:ln w="12700">
            <a:solidFill>
              <a:srgbClr val="F2F5F9"/>
            </a:solidFill>
            <a:prstDash val="solid"/>
          </a:ln>
        </p:spPr>
      </p:sp>
      <p:sp>
        <p:nvSpPr>
          <p:cNvPr id="13" name="Text 11"/>
          <p:cNvSpPr txBox="1"/>
          <p:nvPr/>
        </p:nvSpPr>
        <p:spPr>
          <a:xfrm>
            <a:off x="8001000" y="4709160"/>
            <a:ext cx="3474720" cy="566928"/>
          </a:xfrm>
          <a:prstGeom prst="rect">
            <a:avLst/>
          </a:prstGeom>
          <a:noFill/>
          <a:ln/>
        </p:spPr>
        <p:txBody>
          <a:bodyPr wrap="square" lIns="0" tIns="0" rIns="0" bIns="0" rtlCol="0" anchor="b"/>
          <a:lstStyle/>
          <a:p>
            <a:pPr indent="0" marL="0">
              <a:buNone/>
            </a:pPr>
            <a:r>
              <a:rPr lang="en-US" sz="3600" b="1" dirty="0">
                <a:solidFill>
                  <a:srgbClr val="1E8449"/>
                </a:solidFill>
                <a:latin typeface="Cambria" pitchFamily="34" charset="0"/>
                <a:ea typeface="Cambria" pitchFamily="34" charset="-122"/>
                <a:cs typeface="Cambria" pitchFamily="34" charset="-120"/>
              </a:rPr>
              <a:t>0</a:t>
            </a:r>
            <a:endParaRPr lang="en-US" sz="3600" dirty="0"/>
          </a:p>
        </p:txBody>
      </p:sp>
      <p:sp>
        <p:nvSpPr>
          <p:cNvPr id="14" name="Text 12"/>
          <p:cNvSpPr txBox="1"/>
          <p:nvPr/>
        </p:nvSpPr>
        <p:spPr>
          <a:xfrm>
            <a:off x="8001000" y="5312664"/>
            <a:ext cx="3474720" cy="502920"/>
          </a:xfrm>
          <a:prstGeom prst="rect">
            <a:avLst/>
          </a:prstGeom>
          <a:noFill/>
          <a:ln/>
        </p:spPr>
        <p:txBody>
          <a:bodyPr wrap="square" lIns="0" tIns="0" rIns="0" bIns="0" rtlCol="0" anchor="t"/>
          <a:lstStyle/>
          <a:p>
            <a:pPr indent="0" marL="0">
              <a:buNone/>
            </a:pPr>
            <a:r>
              <a:rPr lang="en-US" sz="1200" dirty="0">
                <a:solidFill>
                  <a:srgbClr val="5B6B7B"/>
                </a:solidFill>
                <a:latin typeface="Calibri" pitchFamily="34" charset="0"/>
                <a:ea typeface="Calibri" pitchFamily="34" charset="-122"/>
                <a:cs typeface="Calibri" pitchFamily="34" charset="-120"/>
              </a:rPr>
              <a:t>real patient records used to build or train anything here</a:t>
            </a:r>
            <a:endParaRPr lang="en-US" sz="1200" dirty="0"/>
          </a:p>
        </p:txBody>
      </p:sp>
      <p:sp>
        <p:nvSpPr>
          <p:cNvPr id="16" name="Text 13"/>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9AA5B1"/>
                </a:solidFill>
                <a:latin typeface="Calibri" pitchFamily="34" charset="0"/>
                <a:ea typeface="Calibri" pitchFamily="34" charset="-122"/>
                <a:cs typeface="Calibri" pitchFamily="34" charset="-120"/>
              </a:rPr>
              <a:t>Team AMRIT_VIT · T2D digital twin · synthetic patients only</a:t>
            </a:r>
            <a:endParaRPr lang="en-US" sz="1000" dirty="0"/>
          </a:p>
        </p:txBody>
      </p:sp>
      <p:sp>
        <p:nvSpPr>
          <p:cNvPr id="17" name="Text 14"/>
          <p:cNvSpPr txBox="1"/>
          <p:nvPr/>
        </p:nvSpPr>
        <p:spPr>
          <a:xfrm>
            <a:off x="10911535" y="6419088"/>
            <a:ext cx="731520" cy="274320"/>
          </a:xfrm>
          <a:prstGeom prst="rect">
            <a:avLst/>
          </a:prstGeom>
          <a:noFill/>
          <a:ln/>
        </p:spPr>
        <p:txBody>
          <a:bodyPr wrap="square" lIns="0" tIns="0" rIns="0" bIns="0" rtlCol="0" anchor="ctr"/>
          <a:lstStyle/>
          <a:p>
            <a:pPr algn="r" indent="0" marL="0">
              <a:buNone/>
            </a:pPr>
            <a:r>
              <a:rPr lang="en-US" sz="1000" dirty="0">
                <a:solidFill>
                  <a:srgbClr val="9AA5B1"/>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lstStyle/>
          <a:p>
            <a:pPr indent="0" marL="0">
              <a:buNone/>
            </a:pPr>
            <a:r>
              <a:rPr lang="en-US" sz="3000" b="1" dirty="0">
                <a:solidFill>
                  <a:srgbClr val="12344D"/>
                </a:solidFill>
                <a:latin typeface="Cambria" pitchFamily="34" charset="0"/>
                <a:ea typeface="Cambria" pitchFamily="34" charset="-122"/>
                <a:cs typeface="Cambria" pitchFamily="34" charset="-120"/>
              </a:rPr>
              <a:t>What we built: a twin that predicts, explains and simulates</a:t>
            </a:r>
            <a:endParaRPr lang="en-US" sz="3000" dirty="0"/>
          </a:p>
        </p:txBody>
      </p:sp>
      <p:sp>
        <p:nvSpPr>
          <p:cNvPr id="3" name="Shape 1"/>
          <p:cNvSpPr/>
          <p:nvPr/>
        </p:nvSpPr>
        <p:spPr>
          <a:xfrm>
            <a:off x="548640" y="1371600"/>
            <a:ext cx="3566160" cy="2194560"/>
          </a:xfrm>
          <a:prstGeom prst="roundRect">
            <a:avLst>
              <a:gd name="adj" fmla="val 3333"/>
            </a:avLst>
          </a:prstGeom>
          <a:solidFill>
            <a:srgbClr val="F2F5F9"/>
          </a:solidFill>
          <a:ln w="12700">
            <a:solidFill>
              <a:srgbClr val="F2F5F9"/>
            </a:solidFill>
            <a:prstDash val="solid"/>
          </a:ln>
        </p:spPr>
      </p:sp>
      <p:sp>
        <p:nvSpPr>
          <p:cNvPr id="4" name="Text 2"/>
          <p:cNvSpPr txBox="1"/>
          <p:nvPr/>
        </p:nvSpPr>
        <p:spPr>
          <a:xfrm>
            <a:off x="777240" y="1508760"/>
            <a:ext cx="3108960" cy="411480"/>
          </a:xfrm>
          <a:prstGeom prst="rect">
            <a:avLst/>
          </a:prstGeom>
          <a:noFill/>
          <a:ln/>
        </p:spPr>
        <p:txBody>
          <a:bodyPr wrap="square" lIns="0" tIns="0" rIns="0" bIns="0" rtlCol="0" anchor="ctr"/>
          <a:lstStyle/>
          <a:p>
            <a:pPr indent="0" marL="0">
              <a:buNone/>
            </a:pPr>
            <a:r>
              <a:rPr lang="en-US" sz="1700" b="1" dirty="0">
                <a:solidFill>
                  <a:srgbClr val="12344D"/>
                </a:solidFill>
                <a:latin typeface="Cambria" pitchFamily="34" charset="0"/>
                <a:ea typeface="Cambria" pitchFamily="34" charset="-122"/>
                <a:cs typeface="Cambria" pitchFamily="34" charset="-120"/>
              </a:rPr>
              <a:t>Static record (EHR)</a:t>
            </a:r>
            <a:endParaRPr lang="en-US" sz="1700" dirty="0"/>
          </a:p>
        </p:txBody>
      </p:sp>
      <p:sp>
        <p:nvSpPr>
          <p:cNvPr id="5" name="Text 3"/>
          <p:cNvSpPr txBox="1"/>
          <p:nvPr/>
        </p:nvSpPr>
        <p:spPr>
          <a:xfrm>
            <a:off x="777240" y="1965960"/>
            <a:ext cx="3154680" cy="15087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Age, sex, BMI, waist · HbA1c and its 12-month trend · fasting glucose · eGFR, ALT, fatty liver · lipids, BP · medicines with dose and adherence · allergies and intolerances · diet (vegetarian, non-vegetarian, Jain)</a:t>
            </a:r>
            <a:endParaRPr lang="en-US" sz="1300" dirty="0"/>
          </a:p>
        </p:txBody>
      </p:sp>
      <p:sp>
        <p:nvSpPr>
          <p:cNvPr id="6" name="Shape 4"/>
          <p:cNvSpPr/>
          <p:nvPr/>
        </p:nvSpPr>
        <p:spPr>
          <a:xfrm>
            <a:off x="548640" y="3794760"/>
            <a:ext cx="3566160" cy="2194560"/>
          </a:xfrm>
          <a:prstGeom prst="roundRect">
            <a:avLst>
              <a:gd name="adj" fmla="val 3333"/>
            </a:avLst>
          </a:prstGeom>
          <a:solidFill>
            <a:srgbClr val="F2F5F9"/>
          </a:solidFill>
          <a:ln w="12700">
            <a:solidFill>
              <a:srgbClr val="F2F5F9"/>
            </a:solidFill>
            <a:prstDash val="solid"/>
          </a:ln>
        </p:spPr>
      </p:sp>
      <p:sp>
        <p:nvSpPr>
          <p:cNvPr id="7" name="Text 5"/>
          <p:cNvSpPr txBox="1"/>
          <p:nvPr/>
        </p:nvSpPr>
        <p:spPr>
          <a:xfrm>
            <a:off x="777240" y="3931920"/>
            <a:ext cx="3108960" cy="411480"/>
          </a:xfrm>
          <a:prstGeom prst="rect">
            <a:avLst/>
          </a:prstGeom>
          <a:noFill/>
          <a:ln/>
        </p:spPr>
        <p:txBody>
          <a:bodyPr wrap="square" lIns="0" tIns="0" rIns="0" bIns="0" rtlCol="0" anchor="ctr"/>
          <a:lstStyle/>
          <a:p>
            <a:pPr indent="0" marL="0">
              <a:buNone/>
            </a:pPr>
            <a:r>
              <a:rPr lang="en-US" sz="1700" b="1" dirty="0">
                <a:solidFill>
                  <a:srgbClr val="12344D"/>
                </a:solidFill>
                <a:latin typeface="Cambria" pitchFamily="34" charset="0"/>
                <a:ea typeface="Cambria" pitchFamily="34" charset="-122"/>
                <a:cs typeface="Cambria" pitchFamily="34" charset="-120"/>
              </a:rPr>
              <a:t>Dynamic streams</a:t>
            </a:r>
            <a:endParaRPr lang="en-US" sz="1700" dirty="0"/>
          </a:p>
        </p:txBody>
      </p:sp>
      <p:sp>
        <p:nvSpPr>
          <p:cNvPr id="8" name="Text 6"/>
          <p:cNvSpPr txBox="1"/>
          <p:nvPr/>
        </p:nvSpPr>
        <p:spPr>
          <a:xfrm>
            <a:off x="777240" y="4389120"/>
            <a:ext cx="3154680" cy="15087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CGM every 5 minutes · heart rate and HRV · sleep stages · steps · the patient's own meal log (optional, often incomplete)</a:t>
            </a:r>
            <a:endParaRPr lang="en-US" sz="1300" dirty="0"/>
          </a:p>
        </p:txBody>
      </p:sp>
      <p:sp>
        <p:nvSpPr>
          <p:cNvPr id="9" name="Shape 7"/>
          <p:cNvSpPr/>
          <p:nvPr/>
        </p:nvSpPr>
        <p:spPr>
          <a:xfrm>
            <a:off x="4343400" y="3246120"/>
            <a:ext cx="640080" cy="502920"/>
          </a:xfrm>
          <a:prstGeom prst="rightArrow">
            <a:avLst/>
          </a:prstGeom>
          <a:solidFill>
            <a:srgbClr val="E07A2F"/>
          </a:solidFill>
          <a:ln w="12700">
            <a:solidFill>
              <a:srgbClr val="E07A2F"/>
            </a:solidFill>
            <a:prstDash val="solid"/>
          </a:ln>
        </p:spPr>
      </p:sp>
      <p:sp>
        <p:nvSpPr>
          <p:cNvPr id="10" name="Shape 8"/>
          <p:cNvSpPr/>
          <p:nvPr/>
        </p:nvSpPr>
        <p:spPr>
          <a:xfrm>
            <a:off x="5349240" y="1417320"/>
            <a:ext cx="502920" cy="502920"/>
          </a:xfrm>
          <a:prstGeom prst="ellipse">
            <a:avLst/>
          </a:prstGeom>
          <a:solidFill>
            <a:srgbClr val="E07A2F"/>
          </a:solidFill>
          <a:ln w="12700">
            <a:solidFill>
              <a:srgbClr val="E07A2F"/>
            </a:solidFill>
            <a:prstDash val="solid"/>
          </a:ln>
        </p:spPr>
      </p:sp>
      <p:sp>
        <p:nvSpPr>
          <p:cNvPr id="11" name="Text 9"/>
          <p:cNvSpPr txBox="1"/>
          <p:nvPr/>
        </p:nvSpPr>
        <p:spPr>
          <a:xfrm>
            <a:off x="5349240" y="14173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2" name="Text 10"/>
          <p:cNvSpPr txBox="1"/>
          <p:nvPr/>
        </p:nvSpPr>
        <p:spPr>
          <a:xfrm>
            <a:off x="6035040" y="1371600"/>
            <a:ext cx="5577840" cy="411480"/>
          </a:xfrm>
          <a:prstGeom prst="rect">
            <a:avLst/>
          </a:prstGeom>
          <a:noFill/>
          <a:ln/>
        </p:spPr>
        <p:txBody>
          <a:bodyPr wrap="square" lIns="0" tIns="0" rIns="0" bIns="0" rtlCol="0" anchor="ctr"/>
          <a:lstStyle/>
          <a:p>
            <a:pPr indent="0" marL="0">
              <a:buNone/>
            </a:pPr>
            <a:r>
              <a:rPr lang="en-US" sz="1900" b="1" dirty="0">
                <a:solidFill>
                  <a:srgbClr val="12344D"/>
                </a:solidFill>
                <a:latin typeface="Cambria" pitchFamily="34" charset="0"/>
                <a:ea typeface="Cambria" pitchFamily="34" charset="-122"/>
                <a:cs typeface="Cambria" pitchFamily="34" charset="-120"/>
              </a:rPr>
              <a:t>Predict</a:t>
            </a:r>
            <a:endParaRPr lang="en-US" sz="1900" dirty="0"/>
          </a:p>
        </p:txBody>
      </p:sp>
      <p:sp>
        <p:nvSpPr>
          <p:cNvPr id="13" name="Text 11"/>
          <p:cNvSpPr txBox="1"/>
          <p:nvPr/>
        </p:nvSpPr>
        <p:spPr>
          <a:xfrm>
            <a:off x="6035040" y="1810512"/>
            <a:ext cx="5577840" cy="9601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Calibrated probability that glucose goes above 180 mg/dL within 2 hours, plus a 15-120 minute forecast with an 80 % band. Model: LightGBM fusion of all streams.</a:t>
            </a:r>
            <a:endParaRPr lang="en-US" sz="1400" dirty="0"/>
          </a:p>
        </p:txBody>
      </p:sp>
      <p:sp>
        <p:nvSpPr>
          <p:cNvPr id="14" name="Shape 12"/>
          <p:cNvSpPr/>
          <p:nvPr/>
        </p:nvSpPr>
        <p:spPr>
          <a:xfrm>
            <a:off x="5349240" y="2990088"/>
            <a:ext cx="502920" cy="502920"/>
          </a:xfrm>
          <a:prstGeom prst="ellipse">
            <a:avLst/>
          </a:prstGeom>
          <a:solidFill>
            <a:srgbClr val="E07A2F"/>
          </a:solidFill>
          <a:ln w="12700">
            <a:solidFill>
              <a:srgbClr val="E07A2F"/>
            </a:solidFill>
            <a:prstDash val="solid"/>
          </a:ln>
        </p:spPr>
      </p:sp>
      <p:sp>
        <p:nvSpPr>
          <p:cNvPr id="15" name="Text 13"/>
          <p:cNvSpPr txBox="1"/>
          <p:nvPr/>
        </p:nvSpPr>
        <p:spPr>
          <a:xfrm>
            <a:off x="5349240" y="2990088"/>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6" name="Text 14"/>
          <p:cNvSpPr txBox="1"/>
          <p:nvPr/>
        </p:nvSpPr>
        <p:spPr>
          <a:xfrm>
            <a:off x="6035040" y="2944368"/>
            <a:ext cx="5577840" cy="411480"/>
          </a:xfrm>
          <a:prstGeom prst="rect">
            <a:avLst/>
          </a:prstGeom>
          <a:noFill/>
          <a:ln/>
        </p:spPr>
        <p:txBody>
          <a:bodyPr wrap="square" lIns="0" tIns="0" rIns="0" bIns="0" rtlCol="0" anchor="ctr"/>
          <a:lstStyle/>
          <a:p>
            <a:pPr indent="0" marL="0">
              <a:buNone/>
            </a:pPr>
            <a:r>
              <a:rPr lang="en-US" sz="1900" b="1" dirty="0">
                <a:solidFill>
                  <a:srgbClr val="12344D"/>
                </a:solidFill>
                <a:latin typeface="Cambria" pitchFamily="34" charset="0"/>
                <a:ea typeface="Cambria" pitchFamily="34" charset="-122"/>
                <a:cs typeface="Cambria" pitchFamily="34" charset="-120"/>
              </a:rPr>
              <a:t>Explain</a:t>
            </a:r>
            <a:endParaRPr lang="en-US" sz="1900" dirty="0"/>
          </a:p>
        </p:txBody>
      </p:sp>
      <p:sp>
        <p:nvSpPr>
          <p:cNvPr id="17" name="Text 15"/>
          <p:cNvSpPr txBox="1"/>
          <p:nvPr/>
        </p:nvSpPr>
        <p:spPr>
          <a:xfrm>
            <a:off x="6035040" y="3383280"/>
            <a:ext cx="5577840" cy="9601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SHAP contributions to the predicted peak, grouped into clinical concepts and written as sentences in mg/dL, compared with similar patients.</a:t>
            </a:r>
            <a:endParaRPr lang="en-US" sz="1400" dirty="0"/>
          </a:p>
        </p:txBody>
      </p:sp>
      <p:sp>
        <p:nvSpPr>
          <p:cNvPr id="18" name="Shape 16"/>
          <p:cNvSpPr/>
          <p:nvPr/>
        </p:nvSpPr>
        <p:spPr>
          <a:xfrm>
            <a:off x="5349240" y="4562856"/>
            <a:ext cx="502920" cy="502920"/>
          </a:xfrm>
          <a:prstGeom prst="ellipse">
            <a:avLst/>
          </a:prstGeom>
          <a:solidFill>
            <a:srgbClr val="E07A2F"/>
          </a:solidFill>
          <a:ln w="12700">
            <a:solidFill>
              <a:srgbClr val="E07A2F"/>
            </a:solidFill>
            <a:prstDash val="solid"/>
          </a:ln>
        </p:spPr>
      </p:sp>
      <p:sp>
        <p:nvSpPr>
          <p:cNvPr id="19" name="Text 17"/>
          <p:cNvSpPr txBox="1"/>
          <p:nvPr/>
        </p:nvSpPr>
        <p:spPr>
          <a:xfrm>
            <a:off x="5349240" y="4562856"/>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0" name="Text 18"/>
          <p:cNvSpPr txBox="1"/>
          <p:nvPr/>
        </p:nvSpPr>
        <p:spPr>
          <a:xfrm>
            <a:off x="6035040" y="4517136"/>
            <a:ext cx="5577840" cy="411480"/>
          </a:xfrm>
          <a:prstGeom prst="rect">
            <a:avLst/>
          </a:prstGeom>
          <a:noFill/>
          <a:ln/>
        </p:spPr>
        <p:txBody>
          <a:bodyPr wrap="square" lIns="0" tIns="0" rIns="0" bIns="0" rtlCol="0" anchor="ctr"/>
          <a:lstStyle/>
          <a:p>
            <a:pPr indent="0" marL="0">
              <a:buNone/>
            </a:pPr>
            <a:r>
              <a:rPr lang="en-US" sz="1900" b="1" dirty="0">
                <a:solidFill>
                  <a:srgbClr val="12344D"/>
                </a:solidFill>
                <a:latin typeface="Cambria" pitchFamily="34" charset="0"/>
                <a:ea typeface="Cambria" pitchFamily="34" charset="-122"/>
                <a:cs typeface="Cambria" pitchFamily="34" charset="-120"/>
              </a:rPr>
              <a:t>Simulate</a:t>
            </a:r>
            <a:endParaRPr lang="en-US" sz="1900" dirty="0"/>
          </a:p>
        </p:txBody>
      </p:sp>
      <p:sp>
        <p:nvSpPr>
          <p:cNvPr id="21" name="Text 19"/>
          <p:cNvSpPr txBox="1"/>
          <p:nvPr/>
        </p:nvSpPr>
        <p:spPr>
          <a:xfrm>
            <a:off x="6035040" y="4956048"/>
            <a:ext cx="5577840" cy="9601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A personalised glucose-insulin ODE twin answers "what if?" for meals, walks and medicines. Constraints are checked first; every result gets a hypoglycaemia check.</a:t>
            </a:r>
            <a:endParaRPr lang="en-US" sz="1400" dirty="0"/>
          </a:p>
        </p:txBody>
      </p:sp>
      <p:sp>
        <p:nvSpPr>
          <p:cNvPr id="22" name="Text 20"/>
          <p:cNvSpPr txBox="1"/>
          <p:nvPr/>
        </p:nvSpPr>
        <p:spPr>
          <a:xfrm>
            <a:off x="5349240" y="5897880"/>
            <a:ext cx="6309360" cy="365760"/>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All three are shown to the doctor in one dashboard: Patient · What-if · Triage · About this twin.</a:t>
            </a:r>
            <a:endParaRPr lang="en-US" sz="1300" dirty="0"/>
          </a:p>
        </p:txBody>
      </p:sp>
      <p:sp>
        <p:nvSpPr>
          <p:cNvPr id="24" name="Text 21"/>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9AA5B1"/>
                </a:solidFill>
                <a:latin typeface="Calibri" pitchFamily="34" charset="0"/>
                <a:ea typeface="Calibri" pitchFamily="34" charset="-122"/>
                <a:cs typeface="Calibri" pitchFamily="34" charset="-120"/>
              </a:rPr>
              <a:t>Team AMRIT_VIT · T2D digital twin · synthetic patients only</a:t>
            </a:r>
            <a:endParaRPr lang="en-US" sz="1000" dirty="0"/>
          </a:p>
        </p:txBody>
      </p:sp>
      <p:sp>
        <p:nvSpPr>
          <p:cNvPr id="25" name="Text 22"/>
          <p:cNvSpPr txBox="1"/>
          <p:nvPr/>
        </p:nvSpPr>
        <p:spPr>
          <a:xfrm>
            <a:off x="10911535" y="6419088"/>
            <a:ext cx="731520" cy="274320"/>
          </a:xfrm>
          <a:prstGeom prst="rect">
            <a:avLst/>
          </a:prstGeom>
          <a:noFill/>
          <a:ln/>
        </p:spPr>
        <p:txBody>
          <a:bodyPr wrap="square" lIns="0" tIns="0" rIns="0" bIns="0" rtlCol="0" anchor="ctr"/>
          <a:lstStyle/>
          <a:p>
            <a:pPr algn="r" indent="0" marL="0">
              <a:buNone/>
            </a:pPr>
            <a:r>
              <a:rPr lang="en-US" sz="1000" dirty="0">
                <a:solidFill>
                  <a:srgbClr val="9AA5B1"/>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lstStyle/>
          <a:p>
            <a:pPr indent="0" marL="0">
              <a:buNone/>
            </a:pPr>
            <a:r>
              <a:rPr lang="en-US" sz="3000" b="1" dirty="0">
                <a:solidFill>
                  <a:srgbClr val="12344D"/>
                </a:solidFill>
                <a:latin typeface="Cambria" pitchFamily="34" charset="0"/>
                <a:ea typeface="Cambria" pitchFamily="34" charset="-122"/>
                <a:cs typeface="Cambria" pitchFamily="34" charset="-120"/>
              </a:rPr>
              <a:t>Architecture</a:t>
            </a:r>
            <a:endParaRPr lang="en-US" sz="3000" dirty="0"/>
          </a:p>
        </p:txBody>
      </p:sp>
      <p:pic>
        <p:nvPicPr>
          <p:cNvPr id="3" name="Image 0" descr="Architecture diagram: synthetic data layers, data stores, prediction and twin, dashboard">    </p:cNvPr>
          <p:cNvPicPr>
            <a:picLocks noChangeAspect="1"/>
          </p:cNvPicPr>
          <p:nvPr/>
        </p:nvPicPr>
        <p:blipFill>
          <a:blip r:embed="rId1"/>
          <a:stretch>
            <a:fillRect/>
          </a:stretch>
        </p:blipFill>
        <p:spPr>
          <a:xfrm>
            <a:off x="1544168" y="1188720"/>
            <a:ext cx="9103360" cy="5120640"/>
          </a:xfrm>
          <a:prstGeom prst="rect">
            <a:avLst/>
          </a:prstGeom>
        </p:spPr>
      </p:pic>
      <p:sp>
        <p:nvSpPr>
          <p:cNvPr id="5" name="Text 1"/>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9AA5B1"/>
                </a:solidFill>
                <a:latin typeface="Calibri" pitchFamily="34" charset="0"/>
                <a:ea typeface="Calibri" pitchFamily="34" charset="-122"/>
                <a:cs typeface="Calibri" pitchFamily="34" charset="-120"/>
              </a:rPr>
              <a:t>Team AMRIT_VIT · T2D digital twin · synthetic patients only</a:t>
            </a:r>
            <a:endParaRPr lang="en-US" sz="1000" dirty="0"/>
          </a:p>
        </p:txBody>
      </p:sp>
      <p:sp>
        <p:nvSpPr>
          <p:cNvPr id="6" name="Text 2"/>
          <p:cNvSpPr txBox="1"/>
          <p:nvPr/>
        </p:nvSpPr>
        <p:spPr>
          <a:xfrm>
            <a:off x="10911535" y="6419088"/>
            <a:ext cx="731520" cy="274320"/>
          </a:xfrm>
          <a:prstGeom prst="rect">
            <a:avLst/>
          </a:prstGeom>
          <a:noFill/>
          <a:ln/>
        </p:spPr>
        <p:txBody>
          <a:bodyPr wrap="square" lIns="0" tIns="0" rIns="0" bIns="0" rtlCol="0" anchor="ctr"/>
          <a:lstStyle/>
          <a:p>
            <a:pPr algn="r" indent="0" marL="0">
              <a:buNone/>
            </a:pPr>
            <a:r>
              <a:rPr lang="en-US" sz="1000" dirty="0">
                <a:solidFill>
                  <a:srgbClr val="9AA5B1"/>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lstStyle/>
          <a:p>
            <a:pPr indent="0" marL="0">
              <a:buNone/>
            </a:pPr>
            <a:r>
              <a:rPr lang="en-US" sz="3000" b="1" dirty="0">
                <a:solidFill>
                  <a:srgbClr val="12344D"/>
                </a:solidFill>
                <a:latin typeface="Cambria" pitchFamily="34" charset="0"/>
                <a:ea typeface="Cambria" pitchFamily="34" charset="-122"/>
                <a:cs typeface="Cambria" pitchFamily="34" charset="-120"/>
              </a:rPr>
              <a:t>Realistic synthetic patients, built in four layers</a:t>
            </a:r>
            <a:endParaRPr lang="en-US" sz="3000" dirty="0"/>
          </a:p>
        </p:txBody>
      </p:sp>
      <p:sp>
        <p:nvSpPr>
          <p:cNvPr id="3" name="Shape 1"/>
          <p:cNvSpPr/>
          <p:nvPr/>
        </p:nvSpPr>
        <p:spPr>
          <a:xfrm>
            <a:off x="548640" y="1371600"/>
            <a:ext cx="420624" cy="420624"/>
          </a:xfrm>
          <a:prstGeom prst="ellipse">
            <a:avLst/>
          </a:prstGeom>
          <a:solidFill>
            <a:srgbClr val="E07A2F"/>
          </a:solidFill>
          <a:ln w="12700">
            <a:solidFill>
              <a:srgbClr val="E07A2F"/>
            </a:solidFill>
            <a:prstDash val="solid"/>
          </a:ln>
        </p:spPr>
      </p:sp>
      <p:sp>
        <p:nvSpPr>
          <p:cNvPr id="4" name="Text 2"/>
          <p:cNvSpPr txBox="1"/>
          <p:nvPr/>
        </p:nvSpPr>
        <p:spPr>
          <a:xfrm>
            <a:off x="548640" y="137160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3"/>
          <p:cNvSpPr txBox="1"/>
          <p:nvPr/>
        </p:nvSpPr>
        <p:spPr>
          <a:xfrm>
            <a:off x="1188720" y="1325880"/>
            <a:ext cx="6217920" cy="365760"/>
          </a:xfrm>
          <a:prstGeom prst="rect">
            <a:avLst/>
          </a:prstGeom>
          <a:noFill/>
          <a:ln/>
        </p:spPr>
        <p:txBody>
          <a:bodyPr wrap="square" lIns="0" tIns="0" rIns="0" bIns="0" rtlCol="0" anchor="ctr"/>
          <a:lstStyle/>
          <a:p>
            <a:pPr indent="0" marL="0">
              <a:buNone/>
            </a:pPr>
            <a:r>
              <a:rPr lang="en-US" sz="1700" b="1" dirty="0">
                <a:solidFill>
                  <a:srgbClr val="12344D"/>
                </a:solidFill>
                <a:latin typeface="Cambria" pitchFamily="34" charset="0"/>
                <a:ea typeface="Cambria" pitchFamily="34" charset="-122"/>
                <a:cs typeface="Cambria" pitchFamily="34" charset="-120"/>
              </a:rPr>
              <a:t>Cohort (the record)</a:t>
            </a:r>
            <a:endParaRPr lang="en-US" sz="1700" dirty="0"/>
          </a:p>
        </p:txBody>
      </p:sp>
      <p:sp>
        <p:nvSpPr>
          <p:cNvPr id="6" name="Text 4"/>
          <p:cNvSpPr txBox="1"/>
          <p:nvPr/>
        </p:nvSpPr>
        <p:spPr>
          <a:xfrm>
            <a:off x="1188720" y="1709928"/>
            <a:ext cx="6217920" cy="77724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Gaussian copula over age, BMI, waist, HbA1c, fasting glucose, eGFR, lipids and BP with Indian-clinic distributions; allergies, diet type, eGFR-aware prescribing. No genetic fields.</a:t>
            </a:r>
            <a:endParaRPr lang="en-US" sz="1300" dirty="0"/>
          </a:p>
        </p:txBody>
      </p:sp>
      <p:sp>
        <p:nvSpPr>
          <p:cNvPr id="7" name="Shape 5"/>
          <p:cNvSpPr/>
          <p:nvPr/>
        </p:nvSpPr>
        <p:spPr>
          <a:xfrm>
            <a:off x="548640" y="2587752"/>
            <a:ext cx="420624" cy="420624"/>
          </a:xfrm>
          <a:prstGeom prst="ellipse">
            <a:avLst/>
          </a:prstGeom>
          <a:solidFill>
            <a:srgbClr val="E07A2F"/>
          </a:solidFill>
          <a:ln w="12700">
            <a:solidFill>
              <a:srgbClr val="E07A2F"/>
            </a:solidFill>
            <a:prstDash val="solid"/>
          </a:ln>
        </p:spPr>
      </p:sp>
      <p:sp>
        <p:nvSpPr>
          <p:cNvPr id="8" name="Text 6"/>
          <p:cNvSpPr txBox="1"/>
          <p:nvPr/>
        </p:nvSpPr>
        <p:spPr>
          <a:xfrm>
            <a:off x="548640" y="2587752"/>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txBox="1"/>
          <p:nvPr/>
        </p:nvSpPr>
        <p:spPr>
          <a:xfrm>
            <a:off x="1188720" y="2542032"/>
            <a:ext cx="6217920" cy="365760"/>
          </a:xfrm>
          <a:prstGeom prst="rect">
            <a:avLst/>
          </a:prstGeom>
          <a:noFill/>
          <a:ln/>
        </p:spPr>
        <p:txBody>
          <a:bodyPr wrap="square" lIns="0" tIns="0" rIns="0" bIns="0" rtlCol="0" anchor="ctr"/>
          <a:lstStyle/>
          <a:p>
            <a:pPr indent="0" marL="0">
              <a:buNone/>
            </a:pPr>
            <a:r>
              <a:rPr lang="en-US" sz="1700" b="1" dirty="0">
                <a:solidFill>
                  <a:srgbClr val="12344D"/>
                </a:solidFill>
                <a:latin typeface="Cambria" pitchFamily="34" charset="0"/>
                <a:ea typeface="Cambria" pitchFamily="34" charset="-122"/>
                <a:cs typeface="Cambria" pitchFamily="34" charset="-120"/>
              </a:rPr>
              <a:t>Hidden physiology</a:t>
            </a:r>
            <a:endParaRPr lang="en-US" sz="1700" dirty="0"/>
          </a:p>
        </p:txBody>
      </p:sp>
      <p:sp>
        <p:nvSpPr>
          <p:cNvPr id="10" name="Text 8"/>
          <p:cNvSpPr txBox="1"/>
          <p:nvPr/>
        </p:nvSpPr>
        <p:spPr>
          <a:xfrm>
            <a:off x="1188720" y="2926080"/>
            <a:ext cx="6217920" cy="77724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Insulin sensitivity, beta-cell function and liver glucose output derived from the record plus variation the record cannot explain; a Bergman / Dalla Man glucose-insulin ODE with drugs and exercise.</a:t>
            </a:r>
            <a:endParaRPr lang="en-US" sz="1300" dirty="0"/>
          </a:p>
        </p:txBody>
      </p:sp>
      <p:sp>
        <p:nvSpPr>
          <p:cNvPr id="11" name="Shape 9"/>
          <p:cNvSpPr/>
          <p:nvPr/>
        </p:nvSpPr>
        <p:spPr>
          <a:xfrm>
            <a:off x="548640" y="3803904"/>
            <a:ext cx="420624" cy="420624"/>
          </a:xfrm>
          <a:prstGeom prst="ellipse">
            <a:avLst/>
          </a:prstGeom>
          <a:solidFill>
            <a:srgbClr val="E07A2F"/>
          </a:solidFill>
          <a:ln w="12700">
            <a:solidFill>
              <a:srgbClr val="E07A2F"/>
            </a:solidFill>
            <a:prstDash val="solid"/>
          </a:ln>
        </p:spPr>
      </p:sp>
      <p:sp>
        <p:nvSpPr>
          <p:cNvPr id="12" name="Text 10"/>
          <p:cNvSpPr txBox="1"/>
          <p:nvPr/>
        </p:nvSpPr>
        <p:spPr>
          <a:xfrm>
            <a:off x="548640" y="3803904"/>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3" name="Text 11"/>
          <p:cNvSpPr txBox="1"/>
          <p:nvPr/>
        </p:nvSpPr>
        <p:spPr>
          <a:xfrm>
            <a:off x="1188720" y="3758184"/>
            <a:ext cx="6217920" cy="365760"/>
          </a:xfrm>
          <a:prstGeom prst="rect">
            <a:avLst/>
          </a:prstGeom>
          <a:noFill/>
          <a:ln/>
        </p:spPr>
        <p:txBody>
          <a:bodyPr wrap="square" lIns="0" tIns="0" rIns="0" bIns="0" rtlCol="0" anchor="ctr"/>
          <a:lstStyle/>
          <a:p>
            <a:pPr indent="0" marL="0">
              <a:buNone/>
            </a:pPr>
            <a:r>
              <a:rPr lang="en-US" sz="1700" b="1" dirty="0">
                <a:solidFill>
                  <a:srgbClr val="12344D"/>
                </a:solidFill>
                <a:latin typeface="Cambria" pitchFamily="34" charset="0"/>
                <a:ea typeface="Cambria" pitchFamily="34" charset="-122"/>
                <a:cs typeface="Cambria" pitchFamily="34" charset="-120"/>
              </a:rPr>
              <a:t>Behaviour</a:t>
            </a:r>
            <a:endParaRPr lang="en-US" sz="1700" dirty="0"/>
          </a:p>
        </p:txBody>
      </p:sp>
      <p:sp>
        <p:nvSpPr>
          <p:cNvPr id="14" name="Text 12"/>
          <p:cNvSpPr txBox="1"/>
          <p:nvPr/>
        </p:nvSpPr>
        <p:spPr>
          <a:xfrm>
            <a:off x="1188720" y="4142232"/>
            <a:ext cx="6217920" cy="77724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47 Indian plates (idli-sambar, rajma chawal, poha...), late dinners, weekend shifts, walks, sleep, stress and illness days, missed doses, and a partial, biased meal log.</a:t>
            </a:r>
            <a:endParaRPr lang="en-US" sz="1300" dirty="0"/>
          </a:p>
        </p:txBody>
      </p:sp>
      <p:sp>
        <p:nvSpPr>
          <p:cNvPr id="15" name="Shape 13"/>
          <p:cNvSpPr/>
          <p:nvPr/>
        </p:nvSpPr>
        <p:spPr>
          <a:xfrm>
            <a:off x="548640" y="5020056"/>
            <a:ext cx="420624" cy="420624"/>
          </a:xfrm>
          <a:prstGeom prst="ellipse">
            <a:avLst/>
          </a:prstGeom>
          <a:solidFill>
            <a:srgbClr val="E07A2F"/>
          </a:solidFill>
          <a:ln w="12700">
            <a:solidFill>
              <a:srgbClr val="E07A2F"/>
            </a:solidFill>
            <a:prstDash val="solid"/>
          </a:ln>
        </p:spPr>
      </p:sp>
      <p:sp>
        <p:nvSpPr>
          <p:cNvPr id="16" name="Text 14"/>
          <p:cNvSpPr txBox="1"/>
          <p:nvPr/>
        </p:nvSpPr>
        <p:spPr>
          <a:xfrm>
            <a:off x="548640" y="5020056"/>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7" name="Text 15"/>
          <p:cNvSpPr txBox="1"/>
          <p:nvPr/>
        </p:nvSpPr>
        <p:spPr>
          <a:xfrm>
            <a:off x="1188720" y="4974336"/>
            <a:ext cx="6217920" cy="365760"/>
          </a:xfrm>
          <a:prstGeom prst="rect">
            <a:avLst/>
          </a:prstGeom>
          <a:noFill/>
          <a:ln/>
        </p:spPr>
        <p:txBody>
          <a:bodyPr wrap="square" lIns="0" tIns="0" rIns="0" bIns="0" rtlCol="0" anchor="ctr"/>
          <a:lstStyle/>
          <a:p>
            <a:pPr indent="0" marL="0">
              <a:buNone/>
            </a:pPr>
            <a:r>
              <a:rPr lang="en-US" sz="1700" b="1" dirty="0">
                <a:solidFill>
                  <a:srgbClr val="12344D"/>
                </a:solidFill>
                <a:latin typeface="Cambria" pitchFamily="34" charset="0"/>
                <a:ea typeface="Cambria" pitchFamily="34" charset="-122"/>
                <a:cs typeface="Cambria" pitchFamily="34" charset="-120"/>
              </a:rPr>
              <a:t>Sensors</a:t>
            </a:r>
            <a:endParaRPr lang="en-US" sz="1700" dirty="0"/>
          </a:p>
        </p:txBody>
      </p:sp>
      <p:sp>
        <p:nvSpPr>
          <p:cNvPr id="18" name="Text 16"/>
          <p:cNvSpPr txBox="1"/>
          <p:nvPr/>
        </p:nvSpPr>
        <p:spPr>
          <a:xfrm>
            <a:off x="1188720" y="5358384"/>
            <a:ext cx="6217920" cy="77724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CGM lag of 5-15 min, noise, drift, warm-up, dropouts and compression lows; wearable gaps, phantom steps and noisy HRV.</a:t>
            </a:r>
            <a:endParaRPr lang="en-US" sz="1300" dirty="0"/>
          </a:p>
        </p:txBody>
      </p:sp>
      <p:sp>
        <p:nvSpPr>
          <p:cNvPr id="19" name="Shape 17"/>
          <p:cNvSpPr/>
          <p:nvPr/>
        </p:nvSpPr>
        <p:spPr>
          <a:xfrm>
            <a:off x="7909560" y="1371600"/>
            <a:ext cx="1828800" cy="1554480"/>
          </a:xfrm>
          <a:prstGeom prst="roundRect">
            <a:avLst>
              <a:gd name="adj" fmla="val 4706"/>
            </a:avLst>
          </a:prstGeom>
          <a:solidFill>
            <a:srgbClr val="F2F5F9"/>
          </a:solidFill>
          <a:ln w="12700">
            <a:solidFill>
              <a:srgbClr val="F2F5F9"/>
            </a:solidFill>
            <a:prstDash val="solid"/>
          </a:ln>
        </p:spPr>
      </p:sp>
      <p:sp>
        <p:nvSpPr>
          <p:cNvPr id="20" name="Text 18"/>
          <p:cNvSpPr txBox="1"/>
          <p:nvPr/>
        </p:nvSpPr>
        <p:spPr>
          <a:xfrm>
            <a:off x="8092440" y="1481328"/>
            <a:ext cx="1508760" cy="566928"/>
          </a:xfrm>
          <a:prstGeom prst="rect">
            <a:avLst/>
          </a:prstGeom>
          <a:noFill/>
          <a:ln/>
        </p:spPr>
        <p:txBody>
          <a:bodyPr wrap="square" lIns="0" tIns="0" rIns="0" bIns="0" rtlCol="0" anchor="b"/>
          <a:lstStyle/>
          <a:p>
            <a:pPr indent="0" marL="0">
              <a:buNone/>
            </a:pPr>
            <a:r>
              <a:rPr lang="en-US" sz="2800" b="1" dirty="0">
                <a:solidFill>
                  <a:srgbClr val="12344D"/>
                </a:solidFill>
                <a:latin typeface="Cambria" pitchFamily="34" charset="0"/>
                <a:ea typeface="Cambria" pitchFamily="34" charset="-122"/>
                <a:cs typeface="Cambria" pitchFamily="34" charset="-120"/>
              </a:rPr>
              <a:t>400 × 14</a:t>
            </a:r>
            <a:endParaRPr lang="en-US" sz="2800" dirty="0"/>
          </a:p>
        </p:txBody>
      </p:sp>
      <p:sp>
        <p:nvSpPr>
          <p:cNvPr id="21" name="Text 19"/>
          <p:cNvSpPr txBox="1"/>
          <p:nvPr/>
        </p:nvSpPr>
        <p:spPr>
          <a:xfrm>
            <a:off x="8092440" y="2084832"/>
            <a:ext cx="1508760" cy="502920"/>
          </a:xfrm>
          <a:prstGeom prst="rect">
            <a:avLst/>
          </a:prstGeom>
          <a:noFill/>
          <a:ln/>
        </p:spPr>
        <p:txBody>
          <a:bodyPr wrap="square" lIns="0" tIns="0" rIns="0" bIns="0" rtlCol="0" anchor="t"/>
          <a:lstStyle/>
          <a:p>
            <a:pPr indent="0" marL="0">
              <a:buNone/>
            </a:pPr>
            <a:r>
              <a:rPr lang="en-US" sz="1200" dirty="0">
                <a:solidFill>
                  <a:srgbClr val="5B6B7B"/>
                </a:solidFill>
                <a:latin typeface="Calibri" pitchFamily="34" charset="0"/>
                <a:ea typeface="Calibri" pitchFamily="34" charset="-122"/>
                <a:cs typeface="Calibri" pitchFamily="34" charset="-120"/>
              </a:rPr>
              <a:t>patients × days, split 70/15/15 by patient</a:t>
            </a:r>
            <a:endParaRPr lang="en-US" sz="1200" dirty="0"/>
          </a:p>
        </p:txBody>
      </p:sp>
      <p:sp>
        <p:nvSpPr>
          <p:cNvPr id="22" name="Shape 20"/>
          <p:cNvSpPr/>
          <p:nvPr/>
        </p:nvSpPr>
        <p:spPr>
          <a:xfrm>
            <a:off x="9921240" y="1371600"/>
            <a:ext cx="1828800" cy="1554480"/>
          </a:xfrm>
          <a:prstGeom prst="roundRect">
            <a:avLst>
              <a:gd name="adj" fmla="val 4706"/>
            </a:avLst>
          </a:prstGeom>
          <a:solidFill>
            <a:srgbClr val="F2F5F9"/>
          </a:solidFill>
          <a:ln w="12700">
            <a:solidFill>
              <a:srgbClr val="F2F5F9"/>
            </a:solidFill>
            <a:prstDash val="solid"/>
          </a:ln>
        </p:spPr>
      </p:sp>
      <p:sp>
        <p:nvSpPr>
          <p:cNvPr id="23" name="Text 21"/>
          <p:cNvSpPr txBox="1"/>
          <p:nvPr/>
        </p:nvSpPr>
        <p:spPr>
          <a:xfrm>
            <a:off x="10104120" y="1481328"/>
            <a:ext cx="1508760" cy="566928"/>
          </a:xfrm>
          <a:prstGeom prst="rect">
            <a:avLst/>
          </a:prstGeom>
          <a:noFill/>
          <a:ln/>
        </p:spPr>
        <p:txBody>
          <a:bodyPr wrap="square" lIns="0" tIns="0" rIns="0" bIns="0" rtlCol="0" anchor="b"/>
          <a:lstStyle/>
          <a:p>
            <a:pPr indent="0" marL="0">
              <a:buNone/>
            </a:pPr>
            <a:r>
              <a:rPr lang="en-US" sz="2800" b="1" dirty="0">
                <a:solidFill>
                  <a:srgbClr val="2F6FB0"/>
                </a:solidFill>
                <a:latin typeface="Cambria" pitchFamily="34" charset="0"/>
                <a:ea typeface="Cambria" pitchFamily="34" charset="-122"/>
                <a:cs typeface="Cambria" pitchFamily="34" charset="-120"/>
              </a:rPr>
              <a:t>1.6 M</a:t>
            </a:r>
            <a:endParaRPr lang="en-US" sz="2800" dirty="0"/>
          </a:p>
        </p:txBody>
      </p:sp>
      <p:sp>
        <p:nvSpPr>
          <p:cNvPr id="24" name="Text 22"/>
          <p:cNvSpPr txBox="1"/>
          <p:nvPr/>
        </p:nvSpPr>
        <p:spPr>
          <a:xfrm>
            <a:off x="10104120" y="2084832"/>
            <a:ext cx="1508760" cy="502920"/>
          </a:xfrm>
          <a:prstGeom prst="rect">
            <a:avLst/>
          </a:prstGeom>
          <a:noFill/>
          <a:ln/>
        </p:spPr>
        <p:txBody>
          <a:bodyPr wrap="square" lIns="0" tIns="0" rIns="0" bIns="0" rtlCol="0" anchor="t"/>
          <a:lstStyle/>
          <a:p>
            <a:pPr indent="0" marL="0">
              <a:buNone/>
            </a:pPr>
            <a:r>
              <a:rPr lang="en-US" sz="1200" dirty="0">
                <a:solidFill>
                  <a:srgbClr val="5B6B7B"/>
                </a:solidFill>
                <a:latin typeface="Calibri" pitchFamily="34" charset="0"/>
                <a:ea typeface="Calibri" pitchFamily="34" charset="-122"/>
                <a:cs typeface="Calibri" pitchFamily="34" charset="-120"/>
              </a:rPr>
              <a:t>CGM readings, 2.8 % missing</a:t>
            </a:r>
            <a:endParaRPr lang="en-US" sz="1200" dirty="0"/>
          </a:p>
        </p:txBody>
      </p:sp>
      <p:sp>
        <p:nvSpPr>
          <p:cNvPr id="25" name="Shape 23"/>
          <p:cNvSpPr/>
          <p:nvPr/>
        </p:nvSpPr>
        <p:spPr>
          <a:xfrm>
            <a:off x="7909560" y="3108960"/>
            <a:ext cx="1828800" cy="1554480"/>
          </a:xfrm>
          <a:prstGeom prst="roundRect">
            <a:avLst>
              <a:gd name="adj" fmla="val 4706"/>
            </a:avLst>
          </a:prstGeom>
          <a:solidFill>
            <a:srgbClr val="F2F5F9"/>
          </a:solidFill>
          <a:ln w="12700">
            <a:solidFill>
              <a:srgbClr val="F2F5F9"/>
            </a:solidFill>
            <a:prstDash val="solid"/>
          </a:ln>
        </p:spPr>
      </p:sp>
      <p:sp>
        <p:nvSpPr>
          <p:cNvPr id="26" name="Text 24"/>
          <p:cNvSpPr txBox="1"/>
          <p:nvPr/>
        </p:nvSpPr>
        <p:spPr>
          <a:xfrm>
            <a:off x="8092440" y="3218688"/>
            <a:ext cx="1508760" cy="566928"/>
          </a:xfrm>
          <a:prstGeom prst="rect">
            <a:avLst/>
          </a:prstGeom>
          <a:noFill/>
          <a:ln/>
        </p:spPr>
        <p:txBody>
          <a:bodyPr wrap="square" lIns="0" tIns="0" rIns="0" bIns="0" rtlCol="0" anchor="b"/>
          <a:lstStyle/>
          <a:p>
            <a:pPr indent="0" marL="0">
              <a:buNone/>
            </a:pPr>
            <a:r>
              <a:rPr lang="en-US" sz="2800" b="1" dirty="0">
                <a:solidFill>
                  <a:srgbClr val="E07A2F"/>
                </a:solidFill>
                <a:latin typeface="Cambria" pitchFamily="34" charset="0"/>
                <a:ea typeface="Cambria" pitchFamily="34" charset="-122"/>
                <a:cs typeface="Cambria" pitchFamily="34" charset="-120"/>
              </a:rPr>
              <a:t>7.3 %</a:t>
            </a:r>
            <a:endParaRPr lang="en-US" sz="2800" dirty="0"/>
          </a:p>
        </p:txBody>
      </p:sp>
      <p:sp>
        <p:nvSpPr>
          <p:cNvPr id="27" name="Text 25"/>
          <p:cNvSpPr txBox="1"/>
          <p:nvPr/>
        </p:nvSpPr>
        <p:spPr>
          <a:xfrm>
            <a:off x="8092440" y="3822192"/>
            <a:ext cx="1508760" cy="502920"/>
          </a:xfrm>
          <a:prstGeom prst="rect">
            <a:avLst/>
          </a:prstGeom>
          <a:noFill/>
          <a:ln/>
        </p:spPr>
        <p:txBody>
          <a:bodyPr wrap="square" lIns="0" tIns="0" rIns="0" bIns="0" rtlCol="0" anchor="t"/>
          <a:lstStyle/>
          <a:p>
            <a:pPr indent="0" marL="0">
              <a:buNone/>
            </a:pPr>
            <a:r>
              <a:rPr lang="en-US" sz="1200" dirty="0">
                <a:solidFill>
                  <a:srgbClr val="5B6B7B"/>
                </a:solidFill>
                <a:latin typeface="Calibri" pitchFamily="34" charset="0"/>
                <a:ea typeface="Calibri" pitchFamily="34" charset="-122"/>
                <a:cs typeface="Calibri" pitchFamily="34" charset="-120"/>
              </a:rPr>
              <a:t>CGM error (MARD) vs the hidden true glucose</a:t>
            </a:r>
            <a:endParaRPr lang="en-US" sz="1200" dirty="0"/>
          </a:p>
        </p:txBody>
      </p:sp>
      <p:sp>
        <p:nvSpPr>
          <p:cNvPr id="28" name="Shape 26"/>
          <p:cNvSpPr/>
          <p:nvPr/>
        </p:nvSpPr>
        <p:spPr>
          <a:xfrm>
            <a:off x="9921240" y="3108960"/>
            <a:ext cx="1828800" cy="1554480"/>
          </a:xfrm>
          <a:prstGeom prst="roundRect">
            <a:avLst>
              <a:gd name="adj" fmla="val 4706"/>
            </a:avLst>
          </a:prstGeom>
          <a:solidFill>
            <a:srgbClr val="F2F5F9"/>
          </a:solidFill>
          <a:ln w="12700">
            <a:solidFill>
              <a:srgbClr val="F2F5F9"/>
            </a:solidFill>
            <a:prstDash val="solid"/>
          </a:ln>
        </p:spPr>
      </p:sp>
      <p:sp>
        <p:nvSpPr>
          <p:cNvPr id="29" name="Text 27"/>
          <p:cNvSpPr txBox="1"/>
          <p:nvPr/>
        </p:nvSpPr>
        <p:spPr>
          <a:xfrm>
            <a:off x="10104120" y="3218688"/>
            <a:ext cx="1508760" cy="566928"/>
          </a:xfrm>
          <a:prstGeom prst="rect">
            <a:avLst/>
          </a:prstGeom>
          <a:noFill/>
          <a:ln/>
        </p:spPr>
        <p:txBody>
          <a:bodyPr wrap="square" lIns="0" tIns="0" rIns="0" bIns="0" rtlCol="0" anchor="b"/>
          <a:lstStyle/>
          <a:p>
            <a:pPr indent="0" marL="0">
              <a:buNone/>
            </a:pPr>
            <a:r>
              <a:rPr lang="en-US" sz="2800" b="1" dirty="0">
                <a:solidFill>
                  <a:srgbClr val="1E8449"/>
                </a:solidFill>
                <a:latin typeface="Cambria" pitchFamily="34" charset="0"/>
                <a:ea typeface="Cambria" pitchFamily="34" charset="-122"/>
                <a:cs typeface="Cambria" pitchFamily="34" charset="-120"/>
              </a:rPr>
              <a:t>8.3 %</a:t>
            </a:r>
            <a:endParaRPr lang="en-US" sz="2800" dirty="0"/>
          </a:p>
        </p:txBody>
      </p:sp>
      <p:sp>
        <p:nvSpPr>
          <p:cNvPr id="30" name="Text 28"/>
          <p:cNvSpPr txBox="1"/>
          <p:nvPr/>
        </p:nvSpPr>
        <p:spPr>
          <a:xfrm>
            <a:off x="10104120" y="3822192"/>
            <a:ext cx="1508760" cy="502920"/>
          </a:xfrm>
          <a:prstGeom prst="rect">
            <a:avLst/>
          </a:prstGeom>
          <a:noFill/>
          <a:ln/>
        </p:spPr>
        <p:txBody>
          <a:bodyPr wrap="square" lIns="0" tIns="0" rIns="0" bIns="0" rtlCol="0" anchor="t"/>
          <a:lstStyle/>
          <a:p>
            <a:pPr indent="0" marL="0">
              <a:buNone/>
            </a:pPr>
            <a:r>
              <a:rPr lang="en-US" sz="1200" dirty="0">
                <a:solidFill>
                  <a:srgbClr val="5B6B7B"/>
                </a:solidFill>
                <a:latin typeface="Calibri" pitchFamily="34" charset="0"/>
                <a:ea typeface="Calibri" pitchFamily="34" charset="-122"/>
                <a:cs typeface="Calibri" pitchFamily="34" charset="-120"/>
              </a:rPr>
              <a:t>median HbA1c, 45 % time in range</a:t>
            </a:r>
            <a:endParaRPr lang="en-US" sz="1200" dirty="0"/>
          </a:p>
        </p:txBody>
      </p:sp>
      <p:sp>
        <p:nvSpPr>
          <p:cNvPr id="31" name="Shape 29"/>
          <p:cNvSpPr/>
          <p:nvPr/>
        </p:nvSpPr>
        <p:spPr>
          <a:xfrm>
            <a:off x="7909560" y="4937760"/>
            <a:ext cx="3840480" cy="1234440"/>
          </a:xfrm>
          <a:prstGeom prst="roundRect">
            <a:avLst>
              <a:gd name="adj" fmla="val 5926"/>
            </a:avLst>
          </a:prstGeom>
          <a:solidFill>
            <a:srgbClr val="F2F5F9"/>
          </a:solidFill>
          <a:ln w="12700">
            <a:solidFill>
              <a:srgbClr val="F2F5F9"/>
            </a:solidFill>
            <a:prstDash val="solid"/>
          </a:ln>
        </p:spPr>
      </p:sp>
      <p:sp>
        <p:nvSpPr>
          <p:cNvPr id="32" name="Text 30"/>
          <p:cNvSpPr txBox="1"/>
          <p:nvPr/>
        </p:nvSpPr>
        <p:spPr>
          <a:xfrm>
            <a:off x="8092440" y="4983480"/>
            <a:ext cx="3474720" cy="1143000"/>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Every patient regenerates identically from one seed. The hidden truth (true glucose, meals eaten, doses taken) is stored apart from what a clinic would see, and tests check nothing hidden leaks into the models.</a:t>
            </a:r>
            <a:endParaRPr lang="en-US" sz="1200" dirty="0"/>
          </a:p>
        </p:txBody>
      </p:sp>
      <p:sp>
        <p:nvSpPr>
          <p:cNvPr id="34" name="Text 31"/>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9AA5B1"/>
                </a:solidFill>
                <a:latin typeface="Calibri" pitchFamily="34" charset="0"/>
                <a:ea typeface="Calibri" pitchFamily="34" charset="-122"/>
                <a:cs typeface="Calibri" pitchFamily="34" charset="-120"/>
              </a:rPr>
              <a:t>Team AMRIT_VIT · T2D digital twin · synthetic patients only</a:t>
            </a:r>
            <a:endParaRPr lang="en-US" sz="1000" dirty="0"/>
          </a:p>
        </p:txBody>
      </p:sp>
      <p:sp>
        <p:nvSpPr>
          <p:cNvPr id="35" name="Text 32"/>
          <p:cNvSpPr txBox="1"/>
          <p:nvPr/>
        </p:nvSpPr>
        <p:spPr>
          <a:xfrm>
            <a:off x="10911535" y="6419088"/>
            <a:ext cx="731520" cy="274320"/>
          </a:xfrm>
          <a:prstGeom prst="rect">
            <a:avLst/>
          </a:prstGeom>
          <a:noFill/>
          <a:ln/>
        </p:spPr>
        <p:txBody>
          <a:bodyPr wrap="square" lIns="0" tIns="0" rIns="0" bIns="0" rtlCol="0" anchor="ctr"/>
          <a:lstStyle/>
          <a:p>
            <a:pPr algn="r" indent="0" marL="0">
              <a:buNone/>
            </a:pPr>
            <a:r>
              <a:rPr lang="en-US" sz="1000" dirty="0">
                <a:solidFill>
                  <a:srgbClr val="9AA5B1"/>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lstStyle/>
          <a:p>
            <a:pPr indent="0" marL="0">
              <a:buNone/>
            </a:pPr>
            <a:r>
              <a:rPr lang="en-US" sz="3000" b="1" dirty="0">
                <a:solidFill>
                  <a:srgbClr val="12344D"/>
                </a:solidFill>
                <a:latin typeface="Cambria" pitchFamily="34" charset="0"/>
                <a:ea typeface="Cambria" pitchFamily="34" charset="-122"/>
                <a:cs typeface="Cambria" pitchFamily="34" charset="-120"/>
              </a:rPr>
              <a:t>What the generator produces: three patients, three days</a:t>
            </a:r>
            <a:endParaRPr lang="en-US" sz="3000" dirty="0"/>
          </a:p>
        </p:txBody>
      </p:sp>
      <p:pic>
        <p:nvPicPr>
          <p:cNvPr id="3" name="Image 0" descr="CGM and true glucose for three synthetic patients over three days">    </p:cNvPr>
          <p:cNvPicPr>
            <a:picLocks noChangeAspect="1"/>
          </p:cNvPicPr>
          <p:nvPr/>
        </p:nvPicPr>
        <p:blipFill>
          <a:blip r:embed="rId1"/>
          <a:stretch>
            <a:fillRect/>
          </a:stretch>
        </p:blipFill>
        <p:spPr>
          <a:xfrm>
            <a:off x="548640" y="1188720"/>
            <a:ext cx="7396480" cy="5120640"/>
          </a:xfrm>
          <a:prstGeom prst="rect">
            <a:avLst/>
          </a:prstGeom>
        </p:spPr>
      </p:pic>
      <p:sp>
        <p:nvSpPr>
          <p:cNvPr id="4" name="Text 1"/>
          <p:cNvSpPr txBox="1"/>
          <p:nvPr/>
        </p:nvSpPr>
        <p:spPr>
          <a:xfrm>
            <a:off x="8732520" y="1325880"/>
            <a:ext cx="2926080" cy="4846320"/>
          </a:xfrm>
          <a:prstGeom prst="rect">
            <a:avLst/>
          </a:prstGeom>
          <a:noFill/>
          <a:ln/>
        </p:spPr>
        <p:txBody>
          <a:bodyPr wrap="square" lIns="0" tIns="0" rIns="0" bIns="0" rtlCol="0" anchor="t"/>
          <a:lstStyle/>
          <a:p>
            <a:pPr marL="203200" indent="-203200">
              <a:spcAft>
                <a:spcPts val="1000"/>
              </a:spcAft>
              <a:buSzPct val="100000"/>
              <a:buChar char="•"/>
            </a:pPr>
            <a:r>
              <a:rPr lang="en-US" sz="1400" b="1" dirty="0">
                <a:solidFill>
                  <a:srgbClr val="1F2933"/>
                </a:solidFill>
                <a:latin typeface="Calibri" pitchFamily="34" charset="0"/>
                <a:ea typeface="Calibri" pitchFamily="34" charset="-122"/>
                <a:cs typeface="Calibri" pitchFamily="34" charset="-120"/>
              </a:rPr>
              <a:t>Grey: </a:t>
            </a:r>
            <a:pPr indent="0" marL="0">
              <a:buNone/>
            </a:pPr>
            <a:r>
              <a:rPr lang="en-US" sz="1400" dirty="0">
                <a:solidFill>
                  <a:srgbClr val="1F2933"/>
                </a:solidFill>
                <a:latin typeface="Calibri" pitchFamily="34" charset="0"/>
                <a:ea typeface="Calibri" pitchFamily="34" charset="-122"/>
                <a:cs typeface="Calibri" pitchFamily="34" charset="-120"/>
              </a:rPr>
              <a:t>true plasma glucose, hidden from every model.</a:t>
            </a:r>
            <a:endParaRPr lang="en-US" sz="1400" dirty="0"/>
          </a:p>
          <a:p>
            <a:pPr marL="203200" indent="-203200">
              <a:spcAft>
                <a:spcPts val="1000"/>
              </a:spcAft>
              <a:buSzPct val="100000"/>
              <a:buChar char="•"/>
            </a:pPr>
            <a:r>
              <a:rPr lang="en-US" sz="1400" b="1" dirty="0">
                <a:solidFill>
                  <a:srgbClr val="1F2933"/>
                </a:solidFill>
                <a:latin typeface="Calibri" pitchFamily="34" charset="0"/>
                <a:ea typeface="Calibri" pitchFamily="34" charset="-122"/>
                <a:cs typeface="Calibri" pitchFamily="34" charset="-120"/>
              </a:rPr>
              <a:t>Blue: </a:t>
            </a:r>
            <a:pPr indent="0" marL="0">
              <a:buNone/>
            </a:pPr>
            <a:r>
              <a:rPr lang="en-US" sz="1400" dirty="0">
                <a:solidFill>
                  <a:srgbClr val="1F2933"/>
                </a:solidFill>
                <a:latin typeface="Calibri" pitchFamily="34" charset="0"/>
                <a:ea typeface="Calibri" pitchFamily="34" charset="-122"/>
                <a:cs typeface="Calibri" pitchFamily="34" charset="-120"/>
              </a:rPr>
              <a:t>what the CGM reports, with lag, noise and gaps.</a:t>
            </a:r>
            <a:endParaRPr lang="en-US" sz="1400" dirty="0"/>
          </a:p>
          <a:p>
            <a:pPr marL="203200" indent="-203200">
              <a:spcAft>
                <a:spcPts val="1000"/>
              </a:spcAft>
              <a:buSzPct val="100000"/>
              <a:buChar char="•"/>
            </a:pPr>
            <a:r>
              <a:rPr lang="en-US" sz="1400" b="1" dirty="0">
                <a:solidFill>
                  <a:srgbClr val="1F2933"/>
                </a:solidFill>
                <a:latin typeface="Calibri" pitchFamily="34" charset="0"/>
                <a:ea typeface="Calibri" pitchFamily="34" charset="-122"/>
                <a:cs typeface="Calibri" pitchFamily="34" charset="-120"/>
              </a:rPr>
              <a:t>Brown: </a:t>
            </a:r>
            <a:pPr indent="0" marL="0">
              <a:buNone/>
            </a:pPr>
            <a:r>
              <a:rPr lang="en-US" sz="1400" dirty="0">
                <a:solidFill>
                  <a:srgbClr val="1F2933"/>
                </a:solidFill>
                <a:latin typeface="Calibri" pitchFamily="34" charset="0"/>
                <a:ea typeface="Calibri" pitchFamily="34" charset="-122"/>
                <a:cs typeface="Calibri" pitchFamily="34" charset="-120"/>
              </a:rPr>
              <a:t>carbohydrate eaten. Green: steps. Purple: sleep.</a:t>
            </a:r>
            <a:endParaRPr lang="en-US" sz="1400" dirty="0"/>
          </a:p>
          <a:p>
            <a:pPr marL="203200" indent="-203200">
              <a:spcAft>
                <a:spcPts val="1000"/>
              </a:spcAft>
              <a:buSzPct val="100000"/>
              <a:buChar char="•"/>
            </a:pPr>
            <a:r>
              <a:rPr lang="en-US" sz="1400" dirty="0">
                <a:solidFill>
                  <a:srgbClr val="1F2933"/>
                </a:solidFill>
                <a:latin typeface="Calibri" pitchFamily="34" charset="0"/>
                <a:ea typeface="Calibri" pitchFamily="34" charset="-122"/>
                <a:cs typeface="Calibri" pitchFamily="34" charset="-120"/>
              </a:rPr>
              <a:t>The same meal gives very different curves at HbA1c 7.0, 8.4 and 13.0 %.</a:t>
            </a:r>
            <a:endParaRPr lang="en-US" sz="1400" dirty="0"/>
          </a:p>
          <a:p>
            <a:pPr marL="203200" indent="-203200">
              <a:spcAft>
                <a:spcPts val="1000"/>
              </a:spcAft>
              <a:buSzPct val="100000"/>
              <a:buChar char="•"/>
            </a:pPr>
            <a:r>
              <a:rPr lang="en-US" sz="1400" dirty="0">
                <a:solidFill>
                  <a:srgbClr val="1F2933"/>
                </a:solidFill>
                <a:latin typeface="Calibri" pitchFamily="34" charset="0"/>
                <a:ea typeface="Calibri" pitchFamily="34" charset="-122"/>
                <a:cs typeface="Calibri" pitchFamily="34" charset="-120"/>
              </a:rPr>
              <a:t>Because we know the truth, we can test the models and the twin in ways real data never allows.</a:t>
            </a:r>
            <a:endParaRPr lang="en-US" sz="1400" dirty="0"/>
          </a:p>
        </p:txBody>
      </p:sp>
      <p:sp>
        <p:nvSpPr>
          <p:cNvPr id="6"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9AA5B1"/>
                </a:solidFill>
                <a:latin typeface="Calibri" pitchFamily="34" charset="0"/>
                <a:ea typeface="Calibri" pitchFamily="34" charset="-122"/>
                <a:cs typeface="Calibri" pitchFamily="34" charset="-120"/>
              </a:rPr>
              <a:t>Team AMRIT_VIT · T2D digital twin · synthetic patients only</a:t>
            </a:r>
            <a:endParaRPr lang="en-US" sz="1000" dirty="0"/>
          </a:p>
        </p:txBody>
      </p:sp>
      <p:sp>
        <p:nvSpPr>
          <p:cNvPr id="7" name="Text 3"/>
          <p:cNvSpPr txBox="1"/>
          <p:nvPr/>
        </p:nvSpPr>
        <p:spPr>
          <a:xfrm>
            <a:off x="10911535" y="6419088"/>
            <a:ext cx="731520" cy="274320"/>
          </a:xfrm>
          <a:prstGeom prst="rect">
            <a:avLst/>
          </a:prstGeom>
          <a:noFill/>
          <a:ln/>
        </p:spPr>
        <p:txBody>
          <a:bodyPr wrap="square" lIns="0" tIns="0" rIns="0" bIns="0" rtlCol="0" anchor="ctr"/>
          <a:lstStyle/>
          <a:p>
            <a:pPr algn="r" indent="0" marL="0">
              <a:buNone/>
            </a:pPr>
            <a:r>
              <a:rPr lang="en-US" sz="1000" dirty="0">
                <a:solidFill>
                  <a:srgbClr val="9AA5B1"/>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lstStyle/>
          <a:p>
            <a:pPr indent="0" marL="0">
              <a:buNone/>
            </a:pPr>
            <a:r>
              <a:rPr lang="en-US" sz="3000" b="1" dirty="0">
                <a:solidFill>
                  <a:srgbClr val="12344D"/>
                </a:solidFill>
                <a:latin typeface="Cambria" pitchFamily="34" charset="0"/>
                <a:ea typeface="Cambria" pitchFamily="34" charset="-122"/>
                <a:cs typeface="Cambria" pitchFamily="34" charset="-120"/>
              </a:rPr>
              <a:t>Checked against real Type 2 CGM data</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5760720" cy="914400"/>
        </p:xfrm>
        <a:graphic>
          <a:graphicData uri="http://schemas.openxmlformats.org/drawingml/2006/table">
            <a:tbl>
              <a:tblPr/>
              <a:tblGrid>
                <a:gridCol w="3566160"/>
                <a:gridCol w="1097280"/>
                <a:gridCol w="109728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metric (held-out Shanghai, 49 patients)</a:t>
                      </a:r>
                      <a:endParaRPr lang="en-US" sz="1300" dirty="0">
                        <a:latin typeface="Calibri" charset="0"/>
                        <a:ea typeface="Calibri" charset="0"/>
                        <a:cs typeface="Calibri" charset="0"/>
                      </a:endParaRPr>
                    </a:p>
                  </a:txBody>
                  <a:tcPr marL="54864" marR="54864" marT="54864" marB="54864"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12344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real</a:t>
                      </a:r>
                      <a:endParaRPr lang="en-US" sz="1300" dirty="0">
                        <a:latin typeface="Calibri" charset="0"/>
                        <a:ea typeface="Calibri" charset="0"/>
                        <a:cs typeface="Calibri" charset="0"/>
                      </a:endParaRPr>
                    </a:p>
                  </a:txBody>
                  <a:tcPr marL="54864" marR="54864" marT="54864" marB="54864"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12344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synthetic</a:t>
                      </a:r>
                      <a:endParaRPr lang="en-US" sz="1300" dirty="0">
                        <a:latin typeface="Calibri" charset="0"/>
                        <a:ea typeface="Calibri" charset="0"/>
                        <a:cs typeface="Calibri" charset="0"/>
                      </a:endParaRPr>
                    </a:p>
                  </a:txBody>
                  <a:tcPr marL="54864" marR="54864" marT="54864" marB="54864"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12344D"/>
                    </a:solidFill>
                  </a:tcPr>
                </a:tc>
              </a:tr>
              <a:tr h="384048">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coefficient of variation</a:t>
                      </a:r>
                      <a:endParaRPr lang="en-US" sz="1300" dirty="0">
                        <a:latin typeface="Calibri" charset="0"/>
                        <a:ea typeface="Calibri" charset="0"/>
                        <a:cs typeface="Calibri" charset="0"/>
                      </a:endParaRPr>
                    </a:p>
                  </a:txBody>
                  <a:tcPr marL="54864" marR="54864" marT="54864" marB="54864"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0.27</a:t>
                      </a:r>
                      <a:endParaRPr lang="en-US" sz="1300" dirty="0">
                        <a:latin typeface="Calibri" charset="0"/>
                        <a:ea typeface="Calibri" charset="0"/>
                        <a:cs typeface="Calibri" charset="0"/>
                      </a:endParaRPr>
                    </a:p>
                  </a:txBody>
                  <a:tcPr marL="54864" marR="54864" marT="54864" marB="54864"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0.26</a:t>
                      </a:r>
                      <a:endParaRPr lang="en-US" sz="1300" dirty="0">
                        <a:latin typeface="Calibri" charset="0"/>
                        <a:ea typeface="Calibri" charset="0"/>
                        <a:cs typeface="Calibri" charset="0"/>
                      </a:endParaRPr>
                    </a:p>
                  </a:txBody>
                  <a:tcPr marL="54864" marR="54864" marT="54864" marB="54864"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tcPr>
                </a:tc>
              </a:tr>
              <a:tr h="384048">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night / mean glucose</a:t>
                      </a:r>
                      <a:endParaRPr lang="en-US" sz="1300" dirty="0">
                        <a:latin typeface="Calibri" charset="0"/>
                        <a:ea typeface="Calibri" charset="0"/>
                        <a:cs typeface="Calibri" charset="0"/>
                      </a:endParaRPr>
                    </a:p>
                  </a:txBody>
                  <a:tcPr marL="54864" marR="54864" marT="54864" marB="54864"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0.82</a:t>
                      </a:r>
                      <a:endParaRPr lang="en-US" sz="1300" dirty="0">
                        <a:latin typeface="Calibri" charset="0"/>
                        <a:ea typeface="Calibri" charset="0"/>
                        <a:cs typeface="Calibri" charset="0"/>
                      </a:endParaRPr>
                    </a:p>
                  </a:txBody>
                  <a:tcPr marL="54864" marR="54864" marT="54864" marB="54864"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0.82</a:t>
                      </a:r>
                      <a:endParaRPr lang="en-US" sz="1300" dirty="0">
                        <a:latin typeface="Calibri" charset="0"/>
                        <a:ea typeface="Calibri" charset="0"/>
                        <a:cs typeface="Calibri" charset="0"/>
                      </a:endParaRPr>
                    </a:p>
                  </a:txBody>
                  <a:tcPr marL="54864" marR="54864" marT="54864" marB="54864"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tcPr>
                </a:tc>
              </a:tr>
              <a:tr h="384048">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time to post-meal peak</a:t>
                      </a:r>
                      <a:endParaRPr lang="en-US" sz="1300" dirty="0">
                        <a:latin typeface="Calibri" charset="0"/>
                        <a:ea typeface="Calibri" charset="0"/>
                        <a:cs typeface="Calibri" charset="0"/>
                      </a:endParaRPr>
                    </a:p>
                  </a:txBody>
                  <a:tcPr marL="54864" marR="54864" marT="54864" marB="54864"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90 min</a:t>
                      </a:r>
                      <a:endParaRPr lang="en-US" sz="1300" dirty="0">
                        <a:latin typeface="Calibri" charset="0"/>
                        <a:ea typeface="Calibri" charset="0"/>
                        <a:cs typeface="Calibri" charset="0"/>
                      </a:endParaRPr>
                    </a:p>
                  </a:txBody>
                  <a:tcPr marL="54864" marR="54864" marT="54864" marB="54864"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93 min</a:t>
                      </a:r>
                      <a:endParaRPr lang="en-US" sz="1300" dirty="0">
                        <a:latin typeface="Calibri" charset="0"/>
                        <a:ea typeface="Calibri" charset="0"/>
                        <a:cs typeface="Calibri" charset="0"/>
                      </a:endParaRPr>
                    </a:p>
                  </a:txBody>
                  <a:tcPr marL="54864" marR="54864" marT="54864" marB="54864"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tcPr>
                </a:tc>
              </a:tr>
              <a:tr h="384048">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spikes above 180 per day</a:t>
                      </a:r>
                      <a:endParaRPr lang="en-US" sz="1300" dirty="0">
                        <a:latin typeface="Calibri" charset="0"/>
                        <a:ea typeface="Calibri" charset="0"/>
                        <a:cs typeface="Calibri" charset="0"/>
                      </a:endParaRPr>
                    </a:p>
                  </a:txBody>
                  <a:tcPr marL="54864" marR="54864" marT="54864" marB="54864"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1.63</a:t>
                      </a:r>
                      <a:endParaRPr lang="en-US" sz="1300" dirty="0">
                        <a:latin typeface="Calibri" charset="0"/>
                        <a:ea typeface="Calibri" charset="0"/>
                        <a:cs typeface="Calibri" charset="0"/>
                      </a:endParaRPr>
                    </a:p>
                  </a:txBody>
                  <a:tcPr marL="54864" marR="54864" marT="54864" marB="54864"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1.60</a:t>
                      </a:r>
                      <a:endParaRPr lang="en-US" sz="1300" dirty="0">
                        <a:latin typeface="Calibri" charset="0"/>
                        <a:ea typeface="Calibri" charset="0"/>
                        <a:cs typeface="Calibri" charset="0"/>
                      </a:endParaRPr>
                    </a:p>
                  </a:txBody>
                  <a:tcPr marL="54864" marR="54864" marT="54864" marB="54864"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tcPr>
                </a:tc>
              </a:tr>
              <a:tr h="384048">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MAGE (outside the band)</a:t>
                      </a:r>
                      <a:endParaRPr lang="en-US" sz="1300" dirty="0">
                        <a:latin typeface="Calibri" charset="0"/>
                        <a:ea typeface="Calibri" charset="0"/>
                        <a:cs typeface="Calibri" charset="0"/>
                      </a:endParaRPr>
                    </a:p>
                  </a:txBody>
                  <a:tcPr marL="54864" marR="54864" marT="54864" marB="54864"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75</a:t>
                      </a:r>
                      <a:endParaRPr lang="en-US" sz="1300" dirty="0">
                        <a:latin typeface="Calibri" charset="0"/>
                        <a:ea typeface="Calibri" charset="0"/>
                        <a:cs typeface="Calibri" charset="0"/>
                      </a:endParaRPr>
                    </a:p>
                  </a:txBody>
                  <a:tcPr marL="54864" marR="54864" marT="54864" marB="54864"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92</a:t>
                      </a:r>
                      <a:endParaRPr lang="en-US" sz="1300" dirty="0">
                        <a:latin typeface="Calibri" charset="0"/>
                        <a:ea typeface="Calibri" charset="0"/>
                        <a:cs typeface="Calibri" charset="0"/>
                      </a:endParaRPr>
                    </a:p>
                  </a:txBody>
                  <a:tcPr marL="54864" marR="54864" marT="54864" marB="54864"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tcPr>
                </a:tc>
              </a:tr>
              <a:tr h="384048">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fastest 15-min fall, p5 (outside)</a:t>
                      </a:r>
                      <a:endParaRPr lang="en-US" sz="1300" dirty="0">
                        <a:latin typeface="Calibri" charset="0"/>
                        <a:ea typeface="Calibri" charset="0"/>
                        <a:cs typeface="Calibri" charset="0"/>
                      </a:endParaRPr>
                    </a:p>
                  </a:txBody>
                  <a:tcPr marL="54864" marR="54864" marT="54864" marB="54864"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−11</a:t>
                      </a:r>
                      <a:endParaRPr lang="en-US" sz="1300" dirty="0">
                        <a:latin typeface="Calibri" charset="0"/>
                        <a:ea typeface="Calibri" charset="0"/>
                        <a:cs typeface="Calibri" charset="0"/>
                      </a:endParaRPr>
                    </a:p>
                  </a:txBody>
                  <a:tcPr marL="54864" marR="54864" marT="54864" marB="54864"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−14</a:t>
                      </a:r>
                      <a:endParaRPr lang="en-US" sz="1300" dirty="0">
                        <a:latin typeface="Calibri" charset="0"/>
                        <a:ea typeface="Calibri" charset="0"/>
                        <a:cs typeface="Calibri" charset="0"/>
                      </a:endParaRPr>
                    </a:p>
                  </a:txBody>
                  <a:tcPr marL="54864" marR="54864" marT="54864" marB="54864"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tcPr>
                </a:tc>
              </a:tr>
            </a:tbl>
          </a:graphicData>
        </a:graphic>
      </p:graphicFrame>
      <p:sp>
        <p:nvSpPr>
          <p:cNvPr id="4" name="Text 1"/>
          <p:cNvSpPr txBox="1"/>
          <p:nvPr/>
        </p:nvSpPr>
        <p:spPr>
          <a:xfrm>
            <a:off x="548640" y="4206240"/>
            <a:ext cx="5760720" cy="914400"/>
          </a:xfrm>
          <a:prstGeom prst="rect">
            <a:avLst/>
          </a:prstGeom>
          <a:noFill/>
          <a:ln/>
        </p:spPr>
        <p:txBody>
          <a:bodyPr wrap="square" lIns="0" tIns="0" rIns="0" bIns="0" rtlCol="0" anchor="t"/>
          <a:lstStyle/>
          <a:p>
            <a:pPr indent="0" marL="0">
              <a:buNone/>
            </a:pPr>
            <a:r>
              <a:rPr lang="en-US" sz="1200" dirty="0">
                <a:solidFill>
                  <a:srgbClr val="5B6B7B"/>
                </a:solidFill>
                <a:latin typeface="Calibri" pitchFamily="34" charset="0"/>
                <a:ea typeface="Calibri" pitchFamily="34" charset="-122"/>
                <a:cs typeface="Calibri" pitchFamily="34" charset="-120"/>
              </a:rPr>
              <a:t>12 of 14 metrics fall within half an interquartile range of the real median. Real CGM runs lower than HbA1c implies (Shanghai: mean 142 vs HbA1c-estimated 194 mg/dL), so each real patient is compared with the synthetic patient of closest mean glucose.</a:t>
            </a:r>
            <a:endParaRPr lang="en-US" sz="1200" dirty="0"/>
          </a:p>
        </p:txBody>
      </p:sp>
      <p:sp>
        <p:nvSpPr>
          <p:cNvPr id="5" name="Shape 2"/>
          <p:cNvSpPr/>
          <p:nvPr/>
        </p:nvSpPr>
        <p:spPr>
          <a:xfrm>
            <a:off x="548640" y="5212080"/>
            <a:ext cx="5760720" cy="1005840"/>
          </a:xfrm>
          <a:prstGeom prst="roundRect">
            <a:avLst>
              <a:gd name="adj" fmla="val 7273"/>
            </a:avLst>
          </a:prstGeom>
          <a:solidFill>
            <a:srgbClr val="F2F5F9"/>
          </a:solidFill>
          <a:ln w="12700">
            <a:solidFill>
              <a:srgbClr val="F2F5F9"/>
            </a:solidFill>
            <a:prstDash val="solid"/>
          </a:ln>
        </p:spPr>
      </p:sp>
      <p:sp>
        <p:nvSpPr>
          <p:cNvPr id="6" name="Text 3"/>
          <p:cNvSpPr txBox="1"/>
          <p:nvPr/>
        </p:nvSpPr>
        <p:spPr>
          <a:xfrm>
            <a:off x="731520" y="5257800"/>
            <a:ext cx="5394960" cy="914400"/>
          </a:xfrm>
          <a:prstGeom prst="rect">
            <a:avLst/>
          </a:prstGeom>
          <a:noFill/>
          <a:ln/>
        </p:spPr>
        <p:txBody>
          <a:bodyPr wrap="square" lIns="0" tIns="0" rIns="0" bIns="0" rtlCol="0" anchor="ctr"/>
          <a:lstStyle/>
          <a:p>
            <a:pPr indent="0" marL="0">
              <a:buNone/>
            </a:pPr>
            <a:r>
              <a:rPr lang="en-US" sz="1300" b="1" dirty="0">
                <a:solidFill>
                  <a:srgbClr val="C0392B"/>
                </a:solidFill>
                <a:latin typeface="Calibri" pitchFamily="34" charset="0"/>
                <a:ea typeface="Calibri" pitchFamily="34" charset="-122"/>
                <a:cs typeface="Calibri" pitchFamily="34" charset="-120"/>
              </a:rPr>
              <a:t>Where it still differs: </a:t>
            </a:r>
            <a:pPr indent="0" marL="0">
              <a:buNone/>
            </a:pPr>
            <a:r>
              <a:rPr lang="en-US" sz="1300" dirty="0">
                <a:solidFill>
                  <a:srgbClr val="1F2933"/>
                </a:solidFill>
                <a:latin typeface="Calibri" pitchFamily="34" charset="0"/>
                <a:ea typeface="Calibri" pitchFamily="34" charset="-122"/>
                <a:cs typeface="Calibri" pitchFamily="34" charset="-120"/>
              </a:rPr>
              <a:t>a classifier can tell real from synthetic 12-hour windows (AUC 0.95), and real glucose falls faster after peaks (−18 to −20 vs −15 mg/dL per 15 min).</a:t>
            </a:r>
            <a:endParaRPr lang="en-US" sz="1300" dirty="0"/>
          </a:p>
        </p:txBody>
      </p:sp>
      <p:graphicFrame>
        <p:nvGraphicFramePr>
          <p:cNvPr id="7" name="Chart 0" descr=""/>
          <p:cNvGraphicFramePr/>
          <p:nvPr/>
        </p:nvGraphicFramePr>
        <p:xfrm>
          <a:off x="6675120" y="1280160"/>
          <a:ext cx="4983480" cy="3931920"/>
        </p:xfrm>
        <a:graphic xmlns:a="http://schemas.openxmlformats.org/drawingml/2006/main">
          <a:graphicData uri="http://schemas.openxmlformats.org/drawingml/2006/chart">
            <c:chart xmlns:c="http://schemas.openxmlformats.org/drawingml/2006/chart" r:id="rId1"/>
          </a:graphicData>
        </a:graphic>
      </p:graphicFrame>
      <p:sp>
        <p:nvSpPr>
          <p:cNvPr id="8" name="Text 4"/>
          <p:cNvSpPr txBox="1"/>
          <p:nvPr/>
        </p:nvSpPr>
        <p:spPr>
          <a:xfrm>
            <a:off x="6675120" y="5303520"/>
            <a:ext cx="4983480" cy="914400"/>
          </a:xfrm>
          <a:prstGeom prst="rect">
            <a:avLst/>
          </a:prstGeom>
          <a:noFill/>
          <a:ln/>
        </p:spPr>
        <p:txBody>
          <a:bodyPr wrap="square" lIns="0" tIns="0" rIns="0" bIns="0" rtlCol="0" anchor="t"/>
          <a:lstStyle/>
          <a:p>
            <a:pPr indent="0" marL="0">
              <a:buNone/>
            </a:pPr>
            <a:r>
              <a:rPr lang="en-US" sz="1200" dirty="0">
                <a:solidFill>
                  <a:srgbClr val="5B6B7B"/>
                </a:solidFill>
                <a:latin typeface="Calibri" pitchFamily="34" charset="0"/>
                <a:ea typeface="Calibri" pitchFamily="34" charset="-122"/>
                <a:cs typeface="Calibri" pitchFamily="34" charset="-120"/>
              </a:rPr>
              <a:t>A CGM-only model trained only on synthetic patients beats persistence on real Shanghai patients and comes close to a model trained on real data. Real data calibrates 7 settings and validates; it never trains the product models.</a:t>
            </a:r>
            <a:endParaRPr lang="en-US" sz="1200" dirty="0"/>
          </a:p>
        </p:txBody>
      </p:sp>
      <p:sp>
        <p:nvSpPr>
          <p:cNvPr id="10" name="Text 5"/>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9AA5B1"/>
                </a:solidFill>
                <a:latin typeface="Calibri" pitchFamily="34" charset="0"/>
                <a:ea typeface="Calibri" pitchFamily="34" charset="-122"/>
                <a:cs typeface="Calibri" pitchFamily="34" charset="-120"/>
              </a:rPr>
              <a:t>Team AMRIT_VIT · T2D digital twin · synthetic patients only</a:t>
            </a:r>
            <a:endParaRPr lang="en-US" sz="1000" dirty="0"/>
          </a:p>
        </p:txBody>
      </p:sp>
      <p:sp>
        <p:nvSpPr>
          <p:cNvPr id="11" name="Text 6"/>
          <p:cNvSpPr txBox="1"/>
          <p:nvPr/>
        </p:nvSpPr>
        <p:spPr>
          <a:xfrm>
            <a:off x="10911535" y="6419088"/>
            <a:ext cx="731520" cy="274320"/>
          </a:xfrm>
          <a:prstGeom prst="rect">
            <a:avLst/>
          </a:prstGeom>
          <a:noFill/>
          <a:ln/>
        </p:spPr>
        <p:txBody>
          <a:bodyPr wrap="square" lIns="0" tIns="0" rIns="0" bIns="0" rtlCol="0" anchor="ctr"/>
          <a:lstStyle/>
          <a:p>
            <a:pPr algn="r" indent="0" marL="0">
              <a:buNone/>
            </a:pPr>
            <a:r>
              <a:rPr lang="en-US" sz="1000" dirty="0">
                <a:solidFill>
                  <a:srgbClr val="9AA5B1"/>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lstStyle/>
          <a:p>
            <a:pPr indent="0" marL="0">
              <a:buNone/>
            </a:pPr>
            <a:r>
              <a:rPr lang="en-US" sz="3000" b="1" dirty="0">
                <a:solidFill>
                  <a:srgbClr val="12344D"/>
                </a:solidFill>
                <a:latin typeface="Cambria" pitchFamily="34" charset="0"/>
                <a:ea typeface="Cambria" pitchFamily="34" charset="-122"/>
                <a:cs typeface="Cambria" pitchFamily="34" charset="-120"/>
              </a:rPr>
              <a:t>Forecast and spike detection on held-out patients</a:t>
            </a:r>
            <a:endParaRPr lang="en-US" sz="3000" dirty="0"/>
          </a:p>
        </p:txBody>
      </p:sp>
      <p:graphicFrame>
        <p:nvGraphicFramePr>
          <p:cNvPr id="3" name="Chart 0" descr=""/>
          <p:cNvGraphicFramePr/>
          <p:nvPr/>
        </p:nvGraphicFramePr>
        <p:xfrm>
          <a:off x="548640" y="1280160"/>
          <a:ext cx="6400800" cy="42062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5577840"/>
            <a:ext cx="6400800" cy="640080"/>
          </a:xfrm>
          <a:prstGeom prst="rect">
            <a:avLst/>
          </a:prstGeom>
          <a:noFill/>
          <a:ln/>
        </p:spPr>
        <p:txBody>
          <a:bodyPr wrap="square" lIns="0" tIns="0" rIns="0" bIns="0" rtlCol="0" anchor="t"/>
          <a:lstStyle/>
          <a:p>
            <a:pPr indent="0" marL="0">
              <a:buNone/>
            </a:pPr>
            <a:r>
              <a:rPr lang="en-US" sz="1200" dirty="0">
                <a:solidFill>
                  <a:srgbClr val="5B6B7B"/>
                </a:solidFill>
                <a:latin typeface="Calibri" pitchFamily="34" charset="0"/>
                <a:ea typeface="Calibri" pitchFamily="34" charset="-122"/>
                <a:cs typeface="Calibri" pitchFamily="34" charset="-120"/>
              </a:rPr>
              <a:t>60 test patients never seen in training (230,609 prediction times). Spike = CGM above 180 mg/dL for at least 15 minutes within the next 2 hours.</a:t>
            </a:r>
            <a:endParaRPr lang="en-US" sz="1200" dirty="0"/>
          </a:p>
        </p:txBody>
      </p:sp>
      <p:sp>
        <p:nvSpPr>
          <p:cNvPr id="5" name="Shape 2"/>
          <p:cNvSpPr/>
          <p:nvPr/>
        </p:nvSpPr>
        <p:spPr>
          <a:xfrm>
            <a:off x="7315200" y="1325880"/>
            <a:ext cx="2057400" cy="1463040"/>
          </a:xfrm>
          <a:prstGeom prst="roundRect">
            <a:avLst>
              <a:gd name="adj" fmla="val 5000"/>
            </a:avLst>
          </a:prstGeom>
          <a:solidFill>
            <a:srgbClr val="F2F5F9"/>
          </a:solidFill>
          <a:ln w="12700">
            <a:solidFill>
              <a:srgbClr val="F2F5F9"/>
            </a:solidFill>
            <a:prstDash val="solid"/>
          </a:ln>
        </p:spPr>
      </p:sp>
      <p:sp>
        <p:nvSpPr>
          <p:cNvPr id="6" name="Text 3"/>
          <p:cNvSpPr txBox="1"/>
          <p:nvPr/>
        </p:nvSpPr>
        <p:spPr>
          <a:xfrm>
            <a:off x="7479792" y="1399032"/>
            <a:ext cx="1783080" cy="566928"/>
          </a:xfrm>
          <a:prstGeom prst="rect">
            <a:avLst/>
          </a:prstGeom>
          <a:noFill/>
          <a:ln/>
        </p:spPr>
        <p:txBody>
          <a:bodyPr wrap="square" lIns="0" tIns="0" rIns="0" bIns="0" rtlCol="0" anchor="b"/>
          <a:lstStyle/>
          <a:p>
            <a:pPr indent="0" marL="0">
              <a:buNone/>
            </a:pPr>
            <a:r>
              <a:rPr lang="en-US" sz="2800" b="1" dirty="0">
                <a:solidFill>
                  <a:srgbClr val="2F6FB0"/>
                </a:solidFill>
                <a:latin typeface="Cambria" pitchFamily="34" charset="0"/>
                <a:ea typeface="Cambria" pitchFamily="34" charset="-122"/>
                <a:cs typeface="Cambria" pitchFamily="34" charset="-120"/>
              </a:rPr>
              <a:t>14.1</a:t>
            </a:r>
            <a:endParaRPr lang="en-US" sz="2800" dirty="0"/>
          </a:p>
        </p:txBody>
      </p:sp>
      <p:sp>
        <p:nvSpPr>
          <p:cNvPr id="7" name="Text 4"/>
          <p:cNvSpPr txBox="1"/>
          <p:nvPr/>
        </p:nvSpPr>
        <p:spPr>
          <a:xfrm>
            <a:off x="7479792" y="2002536"/>
            <a:ext cx="1783080" cy="502920"/>
          </a:xfrm>
          <a:prstGeom prst="rect">
            <a:avLst/>
          </a:prstGeom>
          <a:noFill/>
          <a:ln/>
        </p:spPr>
        <p:txBody>
          <a:bodyPr wrap="square" lIns="0" tIns="0" rIns="0" bIns="0" rtlCol="0" anchor="t"/>
          <a:lstStyle/>
          <a:p>
            <a:pPr indent="0" marL="0">
              <a:buNone/>
            </a:pPr>
            <a:r>
              <a:rPr lang="en-US" sz="1200" dirty="0">
                <a:solidFill>
                  <a:srgbClr val="5B6B7B"/>
                </a:solidFill>
                <a:latin typeface="Calibri" pitchFamily="34" charset="0"/>
                <a:ea typeface="Calibri" pitchFamily="34" charset="-122"/>
                <a:cs typeface="Calibri" pitchFamily="34" charset="-120"/>
              </a:rPr>
              <a:t>mg/dL error at 60 min (persistence 24.6)</a:t>
            </a:r>
            <a:endParaRPr lang="en-US" sz="1200" dirty="0"/>
          </a:p>
        </p:txBody>
      </p:sp>
      <p:sp>
        <p:nvSpPr>
          <p:cNvPr id="8" name="Shape 5"/>
          <p:cNvSpPr/>
          <p:nvPr/>
        </p:nvSpPr>
        <p:spPr>
          <a:xfrm>
            <a:off x="9601200" y="1325880"/>
            <a:ext cx="2057400" cy="1463040"/>
          </a:xfrm>
          <a:prstGeom prst="roundRect">
            <a:avLst>
              <a:gd name="adj" fmla="val 5000"/>
            </a:avLst>
          </a:prstGeom>
          <a:solidFill>
            <a:srgbClr val="F2F5F9"/>
          </a:solidFill>
          <a:ln w="12700">
            <a:solidFill>
              <a:srgbClr val="F2F5F9"/>
            </a:solidFill>
            <a:prstDash val="solid"/>
          </a:ln>
        </p:spPr>
      </p:sp>
      <p:sp>
        <p:nvSpPr>
          <p:cNvPr id="9" name="Text 6"/>
          <p:cNvSpPr txBox="1"/>
          <p:nvPr/>
        </p:nvSpPr>
        <p:spPr>
          <a:xfrm>
            <a:off x="9765792" y="1399032"/>
            <a:ext cx="1783080" cy="566928"/>
          </a:xfrm>
          <a:prstGeom prst="rect">
            <a:avLst/>
          </a:prstGeom>
          <a:noFill/>
          <a:ln/>
        </p:spPr>
        <p:txBody>
          <a:bodyPr wrap="square" lIns="0" tIns="0" rIns="0" bIns="0" rtlCol="0" anchor="b"/>
          <a:lstStyle/>
          <a:p>
            <a:pPr indent="0" marL="0">
              <a:buNone/>
            </a:pPr>
            <a:r>
              <a:rPr lang="en-US" sz="2800" b="1" dirty="0">
                <a:solidFill>
                  <a:srgbClr val="1E8449"/>
                </a:solidFill>
                <a:latin typeface="Cambria" pitchFamily="34" charset="0"/>
                <a:ea typeface="Cambria" pitchFamily="34" charset="-122"/>
                <a:cs typeface="Cambria" pitchFamily="34" charset="-120"/>
              </a:rPr>
              <a:t>99.6 %</a:t>
            </a:r>
            <a:endParaRPr lang="en-US" sz="2800" dirty="0"/>
          </a:p>
        </p:txBody>
      </p:sp>
      <p:sp>
        <p:nvSpPr>
          <p:cNvPr id="10" name="Text 7"/>
          <p:cNvSpPr txBox="1"/>
          <p:nvPr/>
        </p:nvSpPr>
        <p:spPr>
          <a:xfrm>
            <a:off x="9765792" y="2002536"/>
            <a:ext cx="1783080" cy="502920"/>
          </a:xfrm>
          <a:prstGeom prst="rect">
            <a:avLst/>
          </a:prstGeom>
          <a:noFill/>
          <a:ln/>
        </p:spPr>
        <p:txBody>
          <a:bodyPr wrap="square" lIns="0" tIns="0" rIns="0" bIns="0" rtlCol="0" anchor="t"/>
          <a:lstStyle/>
          <a:p>
            <a:pPr indent="0" marL="0">
              <a:buNone/>
            </a:pPr>
            <a:r>
              <a:rPr lang="en-US" sz="1200" dirty="0">
                <a:solidFill>
                  <a:srgbClr val="5B6B7B"/>
                </a:solidFill>
                <a:latin typeface="Calibri" pitchFamily="34" charset="0"/>
                <a:ea typeface="Calibri" pitchFamily="34" charset="-122"/>
                <a:cs typeface="Calibri" pitchFamily="34" charset="-120"/>
              </a:rPr>
              <a:t>of 60-min forecasts in Clarke zones A+B</a:t>
            </a:r>
            <a:endParaRPr lang="en-US" sz="1200" dirty="0"/>
          </a:p>
        </p:txBody>
      </p:sp>
      <p:sp>
        <p:nvSpPr>
          <p:cNvPr id="11" name="Shape 8"/>
          <p:cNvSpPr/>
          <p:nvPr/>
        </p:nvSpPr>
        <p:spPr>
          <a:xfrm>
            <a:off x="7315200" y="2971800"/>
            <a:ext cx="2057400" cy="1463040"/>
          </a:xfrm>
          <a:prstGeom prst="roundRect">
            <a:avLst>
              <a:gd name="adj" fmla="val 5000"/>
            </a:avLst>
          </a:prstGeom>
          <a:solidFill>
            <a:srgbClr val="F2F5F9"/>
          </a:solidFill>
          <a:ln w="12700">
            <a:solidFill>
              <a:srgbClr val="F2F5F9"/>
            </a:solidFill>
            <a:prstDash val="solid"/>
          </a:ln>
        </p:spPr>
      </p:sp>
      <p:sp>
        <p:nvSpPr>
          <p:cNvPr id="12" name="Text 9"/>
          <p:cNvSpPr txBox="1"/>
          <p:nvPr/>
        </p:nvSpPr>
        <p:spPr>
          <a:xfrm>
            <a:off x="7479792" y="3044952"/>
            <a:ext cx="1783080" cy="566928"/>
          </a:xfrm>
          <a:prstGeom prst="rect">
            <a:avLst/>
          </a:prstGeom>
          <a:noFill/>
          <a:ln/>
        </p:spPr>
        <p:txBody>
          <a:bodyPr wrap="square" lIns="0" tIns="0" rIns="0" bIns="0" rtlCol="0" anchor="b"/>
          <a:lstStyle/>
          <a:p>
            <a:pPr indent="0" marL="0">
              <a:buNone/>
            </a:pPr>
            <a:r>
              <a:rPr lang="en-US" sz="2800" b="1" dirty="0">
                <a:solidFill>
                  <a:srgbClr val="E07A2F"/>
                </a:solidFill>
                <a:latin typeface="Cambria" pitchFamily="34" charset="0"/>
                <a:ea typeface="Cambria" pitchFamily="34" charset="-122"/>
                <a:cs typeface="Cambria" pitchFamily="34" charset="-120"/>
              </a:rPr>
              <a:t>0.848</a:t>
            </a:r>
            <a:endParaRPr lang="en-US" sz="2800" dirty="0"/>
          </a:p>
        </p:txBody>
      </p:sp>
      <p:sp>
        <p:nvSpPr>
          <p:cNvPr id="13" name="Text 10"/>
          <p:cNvSpPr txBox="1"/>
          <p:nvPr/>
        </p:nvSpPr>
        <p:spPr>
          <a:xfrm>
            <a:off x="7479792" y="3648456"/>
            <a:ext cx="1783080" cy="502920"/>
          </a:xfrm>
          <a:prstGeom prst="rect">
            <a:avLst/>
          </a:prstGeom>
          <a:noFill/>
          <a:ln/>
        </p:spPr>
        <p:txBody>
          <a:bodyPr wrap="square" lIns="0" tIns="0" rIns="0" bIns="0" rtlCol="0" anchor="t"/>
          <a:lstStyle/>
          <a:p>
            <a:pPr indent="0" marL="0">
              <a:buNone/>
            </a:pPr>
            <a:r>
              <a:rPr lang="en-US" sz="1200" dirty="0">
                <a:solidFill>
                  <a:srgbClr val="5B6B7B"/>
                </a:solidFill>
                <a:latin typeface="Calibri" pitchFamily="34" charset="0"/>
                <a:ea typeface="Calibri" pitchFamily="34" charset="-122"/>
                <a:cs typeface="Calibri" pitchFamily="34" charset="-120"/>
              </a:rPr>
              <a:t>spike PR-AUC (AUROC 0.915; spike rate 35 %)</a:t>
            </a:r>
            <a:endParaRPr lang="en-US" sz="1200" dirty="0"/>
          </a:p>
        </p:txBody>
      </p:sp>
      <p:sp>
        <p:nvSpPr>
          <p:cNvPr id="14" name="Shape 11"/>
          <p:cNvSpPr/>
          <p:nvPr/>
        </p:nvSpPr>
        <p:spPr>
          <a:xfrm>
            <a:off x="9601200" y="2971800"/>
            <a:ext cx="2057400" cy="1463040"/>
          </a:xfrm>
          <a:prstGeom prst="roundRect">
            <a:avLst>
              <a:gd name="adj" fmla="val 5000"/>
            </a:avLst>
          </a:prstGeom>
          <a:solidFill>
            <a:srgbClr val="F2F5F9"/>
          </a:solidFill>
          <a:ln w="12700">
            <a:solidFill>
              <a:srgbClr val="F2F5F9"/>
            </a:solidFill>
            <a:prstDash val="solid"/>
          </a:ln>
        </p:spPr>
      </p:sp>
      <p:sp>
        <p:nvSpPr>
          <p:cNvPr id="15" name="Text 12"/>
          <p:cNvSpPr txBox="1"/>
          <p:nvPr/>
        </p:nvSpPr>
        <p:spPr>
          <a:xfrm>
            <a:off x="9765792" y="3044952"/>
            <a:ext cx="1783080" cy="566928"/>
          </a:xfrm>
          <a:prstGeom prst="rect">
            <a:avLst/>
          </a:prstGeom>
          <a:noFill/>
          <a:ln/>
        </p:spPr>
        <p:txBody>
          <a:bodyPr wrap="square" lIns="0" tIns="0" rIns="0" bIns="0" rtlCol="0" anchor="b"/>
          <a:lstStyle/>
          <a:p>
            <a:pPr indent="0" marL="0">
              <a:buNone/>
            </a:pPr>
            <a:r>
              <a:rPr lang="en-US" sz="2800" b="1" dirty="0">
                <a:solidFill>
                  <a:srgbClr val="12344D"/>
                </a:solidFill>
                <a:latin typeface="Cambria" pitchFamily="34" charset="0"/>
                <a:ea typeface="Cambria" pitchFamily="34" charset="-122"/>
                <a:cs typeface="Cambria" pitchFamily="34" charset="-120"/>
              </a:rPr>
              <a:t>0.115</a:t>
            </a:r>
            <a:endParaRPr lang="en-US" sz="2800" dirty="0"/>
          </a:p>
        </p:txBody>
      </p:sp>
      <p:sp>
        <p:nvSpPr>
          <p:cNvPr id="16" name="Text 13"/>
          <p:cNvSpPr txBox="1"/>
          <p:nvPr/>
        </p:nvSpPr>
        <p:spPr>
          <a:xfrm>
            <a:off x="9765792" y="3648456"/>
            <a:ext cx="1783080" cy="502920"/>
          </a:xfrm>
          <a:prstGeom prst="rect">
            <a:avLst/>
          </a:prstGeom>
          <a:noFill/>
          <a:ln/>
        </p:spPr>
        <p:txBody>
          <a:bodyPr wrap="square" lIns="0" tIns="0" rIns="0" bIns="0" rtlCol="0" anchor="t"/>
          <a:lstStyle/>
          <a:p>
            <a:pPr indent="0" marL="0">
              <a:buNone/>
            </a:pPr>
            <a:r>
              <a:rPr lang="en-US" sz="1200" dirty="0">
                <a:solidFill>
                  <a:srgbClr val="5B6B7B"/>
                </a:solidFill>
                <a:latin typeface="Calibri" pitchFamily="34" charset="0"/>
                <a:ea typeface="Calibri" pitchFamily="34" charset="-122"/>
                <a:cs typeface="Calibri" pitchFamily="34" charset="-120"/>
              </a:rPr>
              <a:t>Brier score after isotonic calibration</a:t>
            </a:r>
            <a:endParaRPr lang="en-US" sz="1200" dirty="0"/>
          </a:p>
        </p:txBody>
      </p:sp>
      <p:sp>
        <p:nvSpPr>
          <p:cNvPr id="17" name="Shape 14"/>
          <p:cNvSpPr/>
          <p:nvPr/>
        </p:nvSpPr>
        <p:spPr>
          <a:xfrm>
            <a:off x="7315200" y="4617720"/>
            <a:ext cx="2057400" cy="1463040"/>
          </a:xfrm>
          <a:prstGeom prst="roundRect">
            <a:avLst>
              <a:gd name="adj" fmla="val 5000"/>
            </a:avLst>
          </a:prstGeom>
          <a:solidFill>
            <a:srgbClr val="F2F5F9"/>
          </a:solidFill>
          <a:ln w="12700">
            <a:solidFill>
              <a:srgbClr val="F2F5F9"/>
            </a:solidFill>
            <a:prstDash val="solid"/>
          </a:ln>
        </p:spPr>
      </p:sp>
      <p:sp>
        <p:nvSpPr>
          <p:cNvPr id="18" name="Text 15"/>
          <p:cNvSpPr txBox="1"/>
          <p:nvPr/>
        </p:nvSpPr>
        <p:spPr>
          <a:xfrm>
            <a:off x="7479792" y="4690872"/>
            <a:ext cx="1783080" cy="566928"/>
          </a:xfrm>
          <a:prstGeom prst="rect">
            <a:avLst/>
          </a:prstGeom>
          <a:noFill/>
          <a:ln/>
        </p:spPr>
        <p:txBody>
          <a:bodyPr wrap="square" lIns="0" tIns="0" rIns="0" bIns="0" rtlCol="0" anchor="b"/>
          <a:lstStyle/>
          <a:p>
            <a:pPr indent="0" marL="0">
              <a:buNone/>
            </a:pPr>
            <a:r>
              <a:rPr lang="en-US" sz="2800" b="1" dirty="0">
                <a:solidFill>
                  <a:srgbClr val="2F6FB0"/>
                </a:solidFill>
                <a:latin typeface="Cambria" pitchFamily="34" charset="0"/>
                <a:ea typeface="Cambria" pitchFamily="34" charset="-122"/>
                <a:cs typeface="Cambria" pitchFamily="34" charset="-120"/>
              </a:rPr>
              <a:t>79 %</a:t>
            </a:r>
            <a:endParaRPr lang="en-US" sz="2800" dirty="0"/>
          </a:p>
        </p:txBody>
      </p:sp>
      <p:sp>
        <p:nvSpPr>
          <p:cNvPr id="19" name="Text 16"/>
          <p:cNvSpPr txBox="1"/>
          <p:nvPr/>
        </p:nvSpPr>
        <p:spPr>
          <a:xfrm>
            <a:off x="7479792" y="5294376"/>
            <a:ext cx="1783080" cy="502920"/>
          </a:xfrm>
          <a:prstGeom prst="rect">
            <a:avLst/>
          </a:prstGeom>
          <a:noFill/>
          <a:ln/>
        </p:spPr>
        <p:txBody>
          <a:bodyPr wrap="square" lIns="0" tIns="0" rIns="0" bIns="0" rtlCol="0" anchor="t"/>
          <a:lstStyle/>
          <a:p>
            <a:pPr indent="0" marL="0">
              <a:buNone/>
            </a:pPr>
            <a:r>
              <a:rPr lang="en-US" sz="1200" dirty="0">
                <a:solidFill>
                  <a:srgbClr val="5B6B7B"/>
                </a:solidFill>
                <a:latin typeface="Calibri" pitchFamily="34" charset="0"/>
                <a:ea typeface="Calibri" pitchFamily="34" charset="-122"/>
                <a:cs typeface="Calibri" pitchFamily="34" charset="-120"/>
              </a:rPr>
              <a:t>of outcomes inside the 80 % band</a:t>
            </a:r>
            <a:endParaRPr lang="en-US" sz="1200" dirty="0"/>
          </a:p>
        </p:txBody>
      </p:sp>
      <p:sp>
        <p:nvSpPr>
          <p:cNvPr id="20" name="Shape 17"/>
          <p:cNvSpPr/>
          <p:nvPr/>
        </p:nvSpPr>
        <p:spPr>
          <a:xfrm>
            <a:off x="9601200" y="4617720"/>
            <a:ext cx="2057400" cy="1463040"/>
          </a:xfrm>
          <a:prstGeom prst="roundRect">
            <a:avLst>
              <a:gd name="adj" fmla="val 5000"/>
            </a:avLst>
          </a:prstGeom>
          <a:solidFill>
            <a:srgbClr val="F2F5F9"/>
          </a:solidFill>
          <a:ln w="12700">
            <a:solidFill>
              <a:srgbClr val="F2F5F9"/>
            </a:solidFill>
            <a:prstDash val="solid"/>
          </a:ln>
        </p:spPr>
      </p:sp>
      <p:sp>
        <p:nvSpPr>
          <p:cNvPr id="21" name="Text 18"/>
          <p:cNvSpPr txBox="1"/>
          <p:nvPr/>
        </p:nvSpPr>
        <p:spPr>
          <a:xfrm>
            <a:off x="9765792" y="4690872"/>
            <a:ext cx="1783080" cy="566928"/>
          </a:xfrm>
          <a:prstGeom prst="rect">
            <a:avLst/>
          </a:prstGeom>
          <a:noFill/>
          <a:ln/>
        </p:spPr>
        <p:txBody>
          <a:bodyPr wrap="square" lIns="0" tIns="0" rIns="0" bIns="0" rtlCol="0" anchor="b"/>
          <a:lstStyle/>
          <a:p>
            <a:pPr indent="0" marL="0">
              <a:buNone/>
            </a:pPr>
            <a:r>
              <a:rPr lang="en-US" sz="2800" b="1" dirty="0">
                <a:solidFill>
                  <a:srgbClr val="C0392B"/>
                </a:solidFill>
                <a:latin typeface="Cambria" pitchFamily="34" charset="0"/>
                <a:ea typeface="Cambria" pitchFamily="34" charset="-122"/>
                <a:cs typeface="Cambria" pitchFamily="34" charset="-120"/>
              </a:rPr>
              <a:t>80 min</a:t>
            </a:r>
            <a:endParaRPr lang="en-US" sz="2800" dirty="0"/>
          </a:p>
        </p:txBody>
      </p:sp>
      <p:sp>
        <p:nvSpPr>
          <p:cNvPr id="22" name="Text 19"/>
          <p:cNvSpPr txBox="1"/>
          <p:nvPr/>
        </p:nvSpPr>
        <p:spPr>
          <a:xfrm>
            <a:off x="9765792" y="5294376"/>
            <a:ext cx="1783080" cy="502920"/>
          </a:xfrm>
          <a:prstGeom prst="rect">
            <a:avLst/>
          </a:prstGeom>
          <a:noFill/>
          <a:ln/>
        </p:spPr>
        <p:txBody>
          <a:bodyPr wrap="square" lIns="0" tIns="0" rIns="0" bIns="0" rtlCol="0" anchor="t"/>
          <a:lstStyle/>
          <a:p>
            <a:pPr indent="0" marL="0">
              <a:buNone/>
            </a:pPr>
            <a:r>
              <a:rPr lang="en-US" sz="1200" dirty="0">
                <a:solidFill>
                  <a:srgbClr val="5B6B7B"/>
                </a:solidFill>
                <a:latin typeface="Calibri" pitchFamily="34" charset="0"/>
                <a:ea typeface="Calibri" pitchFamily="34" charset="-122"/>
                <a:cs typeface="Calibri" pitchFamily="34" charset="-120"/>
              </a:rPr>
              <a:t>median warning before a spike (threshold 0.5)</a:t>
            </a:r>
            <a:endParaRPr lang="en-US" sz="1200" dirty="0"/>
          </a:p>
        </p:txBody>
      </p:sp>
      <p:sp>
        <p:nvSpPr>
          <p:cNvPr id="24" name="Text 20"/>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9AA5B1"/>
                </a:solidFill>
                <a:latin typeface="Calibri" pitchFamily="34" charset="0"/>
                <a:ea typeface="Calibri" pitchFamily="34" charset="-122"/>
                <a:cs typeface="Calibri" pitchFamily="34" charset="-120"/>
              </a:rPr>
              <a:t>Team AMRIT_VIT · T2D digital twin · synthetic patients only</a:t>
            </a:r>
            <a:endParaRPr lang="en-US" sz="1000" dirty="0"/>
          </a:p>
        </p:txBody>
      </p:sp>
      <p:sp>
        <p:nvSpPr>
          <p:cNvPr id="25" name="Text 21"/>
          <p:cNvSpPr txBox="1"/>
          <p:nvPr/>
        </p:nvSpPr>
        <p:spPr>
          <a:xfrm>
            <a:off x="10911535" y="6419088"/>
            <a:ext cx="731520" cy="274320"/>
          </a:xfrm>
          <a:prstGeom prst="rect">
            <a:avLst/>
          </a:prstGeom>
          <a:noFill/>
          <a:ln/>
        </p:spPr>
        <p:txBody>
          <a:bodyPr wrap="square" lIns="0" tIns="0" rIns="0" bIns="0" rtlCol="0" anchor="ctr"/>
          <a:lstStyle/>
          <a:p>
            <a:pPr algn="r" indent="0" marL="0">
              <a:buNone/>
            </a:pPr>
            <a:r>
              <a:rPr lang="en-US" sz="1000" dirty="0">
                <a:solidFill>
                  <a:srgbClr val="9AA5B1"/>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lstStyle/>
          <a:p>
            <a:pPr indent="0" marL="0">
              <a:buNone/>
            </a:pPr>
            <a:r>
              <a:rPr lang="en-US" sz="3000" b="1" dirty="0">
                <a:solidFill>
                  <a:srgbClr val="12344D"/>
                </a:solidFill>
                <a:latin typeface="Cambria" pitchFamily="34" charset="0"/>
                <a:ea typeface="Cambria" pitchFamily="34" charset="-122"/>
                <a:cs typeface="Cambria" pitchFamily="34" charset="-120"/>
              </a:rPr>
              <a:t>Does fusing the streams help? An honest ablation</a:t>
            </a:r>
            <a:endParaRPr lang="en-US" sz="3000" dirty="0"/>
          </a:p>
        </p:txBody>
      </p:sp>
      <p:graphicFrame>
        <p:nvGraphicFramePr>
          <p:cNvPr id="3" name="Chart 0" descr=""/>
          <p:cNvGraphicFramePr/>
          <p:nvPr/>
        </p:nvGraphicFramePr>
        <p:xfrm>
          <a:off x="548640" y="1280160"/>
          <a:ext cx="5852160" cy="484632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6766560" y="1389888"/>
            <a:ext cx="384048" cy="384048"/>
          </a:xfrm>
          <a:prstGeom prst="ellipse">
            <a:avLst/>
          </a:prstGeom>
          <a:solidFill>
            <a:srgbClr val="1E8449"/>
          </a:solidFill>
          <a:ln w="12700">
            <a:solidFill>
              <a:srgbClr val="1E8449"/>
            </a:solidFill>
            <a:prstDash val="solid"/>
          </a:ln>
        </p:spPr>
      </p:sp>
      <p:sp>
        <p:nvSpPr>
          <p:cNvPr id="5" name="Text 2"/>
          <p:cNvSpPr txBox="1"/>
          <p:nvPr/>
        </p:nvSpPr>
        <p:spPr>
          <a:xfrm>
            <a:off x="6766560" y="1389888"/>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3"/>
          <p:cNvSpPr txBox="1"/>
          <p:nvPr/>
        </p:nvSpPr>
        <p:spPr>
          <a:xfrm>
            <a:off x="7315200" y="1371600"/>
            <a:ext cx="4343400" cy="347472"/>
          </a:xfrm>
          <a:prstGeom prst="rect">
            <a:avLst/>
          </a:prstGeom>
          <a:noFill/>
          <a:ln/>
        </p:spPr>
        <p:txBody>
          <a:bodyPr wrap="square" lIns="0" tIns="0" rIns="0" bIns="0" rtlCol="0" anchor="ctr"/>
          <a:lstStyle/>
          <a:p>
            <a:pPr indent="0" marL="0">
              <a:buNone/>
            </a:pPr>
            <a:r>
              <a:rPr lang="en-US" sz="1600" b="1" dirty="0">
                <a:solidFill>
                  <a:srgbClr val="12344D"/>
                </a:solidFill>
                <a:latin typeface="Cambria" pitchFamily="34" charset="0"/>
                <a:ea typeface="Cambria" pitchFamily="34" charset="-122"/>
                <a:cs typeface="Cambria" pitchFamily="34" charset="-120"/>
              </a:rPr>
              <a:t>Meal log</a:t>
            </a:r>
            <a:endParaRPr lang="en-US" sz="1600" dirty="0"/>
          </a:p>
        </p:txBody>
      </p:sp>
      <p:sp>
        <p:nvSpPr>
          <p:cNvPr id="7" name="Text 4"/>
          <p:cNvSpPr txBox="1"/>
          <p:nvPr/>
        </p:nvSpPr>
        <p:spPr>
          <a:xfrm>
            <a:off x="7315200" y="1719072"/>
            <a:ext cx="4343400" cy="6858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Clear gain: 60-min error −0.78 mg/dL [−0.90, −0.64], PR-AUC +0.010.</a:t>
            </a:r>
            <a:endParaRPr lang="en-US" sz="1300" dirty="0"/>
          </a:p>
        </p:txBody>
      </p:sp>
      <p:sp>
        <p:nvSpPr>
          <p:cNvPr id="8" name="Shape 5"/>
          <p:cNvSpPr/>
          <p:nvPr/>
        </p:nvSpPr>
        <p:spPr>
          <a:xfrm>
            <a:off x="6766560" y="2468880"/>
            <a:ext cx="384048" cy="384048"/>
          </a:xfrm>
          <a:prstGeom prst="ellipse">
            <a:avLst/>
          </a:prstGeom>
          <a:solidFill>
            <a:srgbClr val="2F6FB0"/>
          </a:solidFill>
          <a:ln w="12700">
            <a:solidFill>
              <a:srgbClr val="2F6FB0"/>
            </a:solidFill>
            <a:prstDash val="solid"/>
          </a:ln>
        </p:spPr>
      </p:sp>
      <p:sp>
        <p:nvSpPr>
          <p:cNvPr id="9" name="Text 6"/>
          <p:cNvSpPr txBox="1"/>
          <p:nvPr/>
        </p:nvSpPr>
        <p:spPr>
          <a:xfrm>
            <a:off x="6766560" y="246888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7"/>
          <p:cNvSpPr txBox="1"/>
          <p:nvPr/>
        </p:nvSpPr>
        <p:spPr>
          <a:xfrm>
            <a:off x="7315200" y="2450592"/>
            <a:ext cx="4343400" cy="347472"/>
          </a:xfrm>
          <a:prstGeom prst="rect">
            <a:avLst/>
          </a:prstGeom>
          <a:noFill/>
          <a:ln/>
        </p:spPr>
        <p:txBody>
          <a:bodyPr wrap="square" lIns="0" tIns="0" rIns="0" bIns="0" rtlCol="0" anchor="ctr"/>
          <a:lstStyle/>
          <a:p>
            <a:pPr indent="0" marL="0">
              <a:buNone/>
            </a:pPr>
            <a:r>
              <a:rPr lang="en-US" sz="1600" b="1" dirty="0">
                <a:solidFill>
                  <a:srgbClr val="12344D"/>
                </a:solidFill>
                <a:latin typeface="Cambria" pitchFamily="34" charset="0"/>
                <a:ea typeface="Cambria" pitchFamily="34" charset="-122"/>
                <a:cs typeface="Cambria" pitchFamily="34" charset="-120"/>
              </a:rPr>
              <a:t>Wearables</a:t>
            </a:r>
            <a:endParaRPr lang="en-US" sz="1600" dirty="0"/>
          </a:p>
        </p:txBody>
      </p:sp>
      <p:sp>
        <p:nvSpPr>
          <p:cNvPr id="11" name="Text 8"/>
          <p:cNvSpPr txBox="1"/>
          <p:nvPr/>
        </p:nvSpPr>
        <p:spPr>
          <a:xfrm>
            <a:off x="7315200" y="2798064"/>
            <a:ext cx="4343400" cy="6858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Help where physiology says they should: right after a walk, −0.90 mg/dL [−1.64, −0.24]. Slightly worse overall (+0.11).</a:t>
            </a:r>
            <a:endParaRPr lang="en-US" sz="1300" dirty="0"/>
          </a:p>
        </p:txBody>
      </p:sp>
      <p:sp>
        <p:nvSpPr>
          <p:cNvPr id="12" name="Shape 9"/>
          <p:cNvSpPr/>
          <p:nvPr/>
        </p:nvSpPr>
        <p:spPr>
          <a:xfrm>
            <a:off x="6766560" y="3547872"/>
            <a:ext cx="384048" cy="384048"/>
          </a:xfrm>
          <a:prstGeom prst="ellipse">
            <a:avLst/>
          </a:prstGeom>
          <a:solidFill>
            <a:srgbClr val="E07A2F"/>
          </a:solidFill>
          <a:ln w="12700">
            <a:solidFill>
              <a:srgbClr val="E07A2F"/>
            </a:solidFill>
            <a:prstDash val="solid"/>
          </a:ln>
        </p:spPr>
      </p:sp>
      <p:sp>
        <p:nvSpPr>
          <p:cNvPr id="13" name="Text 10"/>
          <p:cNvSpPr txBox="1"/>
          <p:nvPr/>
        </p:nvSpPr>
        <p:spPr>
          <a:xfrm>
            <a:off x="6766560" y="354787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4" name="Text 11"/>
          <p:cNvSpPr txBox="1"/>
          <p:nvPr/>
        </p:nvSpPr>
        <p:spPr>
          <a:xfrm>
            <a:off x="7315200" y="3529584"/>
            <a:ext cx="4343400" cy="347472"/>
          </a:xfrm>
          <a:prstGeom prst="rect">
            <a:avLst/>
          </a:prstGeom>
          <a:noFill/>
          <a:ln/>
        </p:spPr>
        <p:txBody>
          <a:bodyPr wrap="square" lIns="0" tIns="0" rIns="0" bIns="0" rtlCol="0" anchor="ctr"/>
          <a:lstStyle/>
          <a:p>
            <a:pPr indent="0" marL="0">
              <a:buNone/>
            </a:pPr>
            <a:r>
              <a:rPr lang="en-US" sz="1600" b="1" dirty="0">
                <a:solidFill>
                  <a:srgbClr val="12344D"/>
                </a:solidFill>
                <a:latin typeface="Cambria" pitchFamily="34" charset="0"/>
                <a:ea typeface="Cambria" pitchFamily="34" charset="-122"/>
                <a:cs typeface="Cambria" pitchFamily="34" charset="-120"/>
              </a:rPr>
              <a:t>EHR record</a:t>
            </a:r>
            <a:endParaRPr lang="en-US" sz="1600" dirty="0"/>
          </a:p>
        </p:txBody>
      </p:sp>
      <p:sp>
        <p:nvSpPr>
          <p:cNvPr id="15" name="Text 12"/>
          <p:cNvSpPr txBox="1"/>
          <p:nvPr/>
        </p:nvSpPr>
        <p:spPr>
          <a:xfrm>
            <a:off x="7315200" y="3877056"/>
            <a:ext cx="4343400" cy="6858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Adds PR-AUC +0.010 in a patient's first 24 h, when CGM history is short. No overall effect.</a:t>
            </a:r>
            <a:endParaRPr lang="en-US" sz="1300" dirty="0"/>
          </a:p>
        </p:txBody>
      </p:sp>
      <p:sp>
        <p:nvSpPr>
          <p:cNvPr id="16" name="Shape 13"/>
          <p:cNvSpPr/>
          <p:nvPr/>
        </p:nvSpPr>
        <p:spPr>
          <a:xfrm>
            <a:off x="6766560" y="4626864"/>
            <a:ext cx="384048" cy="384048"/>
          </a:xfrm>
          <a:prstGeom prst="ellipse">
            <a:avLst/>
          </a:prstGeom>
          <a:solidFill>
            <a:srgbClr val="12344D"/>
          </a:solidFill>
          <a:ln w="12700">
            <a:solidFill>
              <a:srgbClr val="12344D"/>
            </a:solidFill>
            <a:prstDash val="solid"/>
          </a:ln>
        </p:spPr>
      </p:sp>
      <p:sp>
        <p:nvSpPr>
          <p:cNvPr id="17" name="Text 14"/>
          <p:cNvSpPr txBox="1"/>
          <p:nvPr/>
        </p:nvSpPr>
        <p:spPr>
          <a:xfrm>
            <a:off x="6766560" y="4626864"/>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8" name="Text 15"/>
          <p:cNvSpPr txBox="1"/>
          <p:nvPr/>
        </p:nvSpPr>
        <p:spPr>
          <a:xfrm>
            <a:off x="7315200" y="4608576"/>
            <a:ext cx="4343400" cy="347472"/>
          </a:xfrm>
          <a:prstGeom prst="rect">
            <a:avLst/>
          </a:prstGeom>
          <a:noFill/>
          <a:ln/>
        </p:spPr>
        <p:txBody>
          <a:bodyPr wrap="square" lIns="0" tIns="0" rIns="0" bIns="0" rtlCol="0" anchor="ctr"/>
          <a:lstStyle/>
          <a:p>
            <a:pPr indent="0" marL="0">
              <a:buNone/>
            </a:pPr>
            <a:r>
              <a:rPr lang="en-US" sz="1600" b="1" dirty="0">
                <a:solidFill>
                  <a:srgbClr val="12344D"/>
                </a:solidFill>
                <a:latin typeface="Cambria" pitchFamily="34" charset="0"/>
                <a:ea typeface="Cambria" pitchFamily="34" charset="-122"/>
                <a:cs typeface="Cambria" pitchFamily="34" charset="-120"/>
              </a:rPr>
              <a:t>No meal log</a:t>
            </a:r>
            <a:endParaRPr lang="en-US" sz="1600" dirty="0"/>
          </a:p>
        </p:txBody>
      </p:sp>
      <p:sp>
        <p:nvSpPr>
          <p:cNvPr id="19" name="Text 16"/>
          <p:cNvSpPr txBox="1"/>
          <p:nvPr/>
        </p:nvSpPr>
        <p:spPr>
          <a:xfrm>
            <a:off x="7315200" y="4956048"/>
            <a:ext cx="4343400" cy="6858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Robust to messy inputs: CGM + wearables alone still reach 14.9 mg/dL (persistence 24.6).</a:t>
            </a:r>
            <a:endParaRPr lang="en-US" sz="1300" dirty="0"/>
          </a:p>
        </p:txBody>
      </p:sp>
      <p:sp>
        <p:nvSpPr>
          <p:cNvPr id="20" name="Text 17"/>
          <p:cNvSpPr txBox="1"/>
          <p:nvPr/>
        </p:nvSpPr>
        <p:spPr>
          <a:xfrm>
            <a:off x="6766560" y="5715000"/>
            <a:ext cx="4892040" cy="548640"/>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Paired differences with patient-level bootstrap 95 % intervals. With hours of CGM history, the trace already carries most of today's physiology.</a:t>
            </a:r>
            <a:endParaRPr lang="en-US" sz="1200" dirty="0"/>
          </a:p>
        </p:txBody>
      </p:sp>
      <p:sp>
        <p:nvSpPr>
          <p:cNvPr id="22" name="Text 18"/>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9AA5B1"/>
                </a:solidFill>
                <a:latin typeface="Calibri" pitchFamily="34" charset="0"/>
                <a:ea typeface="Calibri" pitchFamily="34" charset="-122"/>
                <a:cs typeface="Calibri" pitchFamily="34" charset="-120"/>
              </a:rPr>
              <a:t>Team AMRIT_VIT · T2D digital twin · synthetic patients only</a:t>
            </a:r>
            <a:endParaRPr lang="en-US" sz="1000" dirty="0"/>
          </a:p>
        </p:txBody>
      </p:sp>
      <p:sp>
        <p:nvSpPr>
          <p:cNvPr id="23" name="Text 19"/>
          <p:cNvSpPr txBox="1"/>
          <p:nvPr/>
        </p:nvSpPr>
        <p:spPr>
          <a:xfrm>
            <a:off x="10911535" y="6419088"/>
            <a:ext cx="731520" cy="274320"/>
          </a:xfrm>
          <a:prstGeom prst="rect">
            <a:avLst/>
          </a:prstGeom>
          <a:noFill/>
          <a:ln/>
        </p:spPr>
        <p:txBody>
          <a:bodyPr wrap="square" lIns="0" tIns="0" rIns="0" bIns="0" rtlCol="0" anchor="ctr"/>
          <a:lstStyle/>
          <a:p>
            <a:pPr algn="r" indent="0" marL="0">
              <a:buNone/>
            </a:pPr>
            <a:r>
              <a:rPr lang="en-US" sz="1000" dirty="0">
                <a:solidFill>
                  <a:srgbClr val="9AA5B1"/>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lstStyle/>
          <a:p>
            <a:pPr indent="0" marL="0">
              <a:buNone/>
            </a:pPr>
            <a:r>
              <a:rPr lang="en-US" sz="3000" b="1" dirty="0">
                <a:solidFill>
                  <a:srgbClr val="12344D"/>
                </a:solidFill>
                <a:latin typeface="Cambria" pitchFamily="34" charset="0"/>
                <a:ea typeface="Cambria" pitchFamily="34" charset="-122"/>
                <a:cs typeface="Cambria" pitchFamily="34" charset="-120"/>
              </a:rPr>
              <a:t>Alerts a clinic can live with</a:t>
            </a:r>
            <a:endParaRPr lang="en-US" sz="3000" dirty="0"/>
          </a:p>
        </p:txBody>
      </p:sp>
      <p:graphicFrame>
        <p:nvGraphicFramePr>
          <p:cNvPr id="3" name="Chart 0" descr=""/>
          <p:cNvGraphicFramePr/>
          <p:nvPr/>
        </p:nvGraphicFramePr>
        <p:xfrm>
          <a:off x="548640" y="1280160"/>
          <a:ext cx="6492240" cy="4023360"/>
        </p:xfrm>
        <a:graphic xmlns:a="http://schemas.openxmlformats.org/drawingml/2006/main">
          <a:graphicData uri="http://schemas.openxmlformats.org/drawingml/2006/chart">
            <c:chart xmlns:c="http://schemas.openxmlformats.org/drawingml/2006/chart" r:id="rId1"/>
          </a:graphicData>
        </a:graphic>
      </p:graphicFrame>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5440680"/>
          <a:ext cx="6492240" cy="914400"/>
        </p:xfrm>
        <a:graphic>
          <a:graphicData uri="http://schemas.openxmlformats.org/drawingml/2006/table">
            <a:tbl>
              <a:tblPr/>
              <a:tblGrid>
                <a:gridCol w="2103120"/>
                <a:gridCol w="731520"/>
                <a:gridCol w="731520"/>
                <a:gridCol w="731520"/>
                <a:gridCol w="731520"/>
                <a:gridCol w="731520"/>
                <a:gridCol w="731520"/>
              </a:tblGrid>
              <a:tr h="329184">
                <a:tc>
                  <a:txBody>
                    <a:bodyPr/>
                    <a:lstStyle/>
                    <a:p>
                      <a:pPr algn="ctr" indent="0" marL="0">
                        <a:buNone/>
                      </a:pPr>
                      <a:r>
                        <a:rPr lang="en-US" sz="1200" b="1" dirty="0">
                          <a:solidFill>
                            <a:srgbClr val="1F2933"/>
                          </a:solidFill>
                          <a:latin typeface="Calibri" pitchFamily="34" charset="0"/>
                          <a:ea typeface="Calibri" pitchFamily="34" charset="-122"/>
                          <a:cs typeface="Calibri" pitchFamily="34" charset="-120"/>
                        </a:rPr>
                        <a:t>threshold</a:t>
                      </a:r>
                      <a:endParaRPr lang="en-US" sz="1200" dirty="0">
                        <a:latin typeface="Calibri" charset="0"/>
                        <a:ea typeface="Calibri" charset="0"/>
                        <a:cs typeface="Calibri" charset="0"/>
                      </a:endParaRPr>
                    </a:p>
                  </a:txBody>
                  <a:tcPr marL="36576" marR="36576" marT="36576" marB="36576"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F2F5F9"/>
                    </a:solidFill>
                  </a:tcPr>
                </a:tc>
                <a:tc>
                  <a:txBody>
                    <a:bodyPr/>
                    <a:lstStyle/>
                    <a:p>
                      <a:pPr algn="ctr" indent="0" marL="0">
                        <a:buNone/>
                      </a:pPr>
                      <a:r>
                        <a:rPr lang="en-US" sz="1200" b="1" dirty="0">
                          <a:solidFill>
                            <a:srgbClr val="1F2933"/>
                          </a:solidFill>
                          <a:latin typeface="Calibri" pitchFamily="34" charset="0"/>
                          <a:ea typeface="Calibri" pitchFamily="34" charset="-122"/>
                          <a:cs typeface="Calibri" pitchFamily="34" charset="-120"/>
                        </a:rPr>
                        <a:t>0.2</a:t>
                      </a:r>
                      <a:endParaRPr lang="en-US" sz="1200" dirty="0">
                        <a:latin typeface="Calibri" charset="0"/>
                        <a:ea typeface="Calibri" charset="0"/>
                        <a:cs typeface="Calibri" charset="0"/>
                      </a:endParaRPr>
                    </a:p>
                  </a:txBody>
                  <a:tcPr marL="36576" marR="36576" marT="36576" marB="36576"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F2F5F9"/>
                    </a:solidFill>
                  </a:tcPr>
                </a:tc>
                <a:tc>
                  <a:txBody>
                    <a:bodyPr/>
                    <a:lstStyle/>
                    <a:p>
                      <a:pPr algn="ctr" indent="0" marL="0">
                        <a:buNone/>
                      </a:pPr>
                      <a:r>
                        <a:rPr lang="en-US" sz="1200" b="1" dirty="0">
                          <a:solidFill>
                            <a:srgbClr val="1F2933"/>
                          </a:solidFill>
                          <a:latin typeface="Calibri" pitchFamily="34" charset="0"/>
                          <a:ea typeface="Calibri" pitchFamily="34" charset="-122"/>
                          <a:cs typeface="Calibri" pitchFamily="34" charset="-120"/>
                        </a:rPr>
                        <a:t>0.3</a:t>
                      </a:r>
                      <a:endParaRPr lang="en-US" sz="1200" dirty="0">
                        <a:latin typeface="Calibri" charset="0"/>
                        <a:ea typeface="Calibri" charset="0"/>
                        <a:cs typeface="Calibri" charset="0"/>
                      </a:endParaRPr>
                    </a:p>
                  </a:txBody>
                  <a:tcPr marL="36576" marR="36576" marT="36576" marB="36576"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F2F5F9"/>
                    </a:solidFill>
                  </a:tcPr>
                </a:tc>
                <a:tc>
                  <a:txBody>
                    <a:bodyPr/>
                    <a:lstStyle/>
                    <a:p>
                      <a:pPr algn="ctr" indent="0" marL="0">
                        <a:buNone/>
                      </a:pPr>
                      <a:r>
                        <a:rPr lang="en-US" sz="1200" b="1" dirty="0">
                          <a:solidFill>
                            <a:srgbClr val="1F2933"/>
                          </a:solidFill>
                          <a:latin typeface="Calibri" pitchFamily="34" charset="0"/>
                          <a:ea typeface="Calibri" pitchFamily="34" charset="-122"/>
                          <a:cs typeface="Calibri" pitchFamily="34" charset="-120"/>
                        </a:rPr>
                        <a:t>0.4</a:t>
                      </a:r>
                      <a:endParaRPr lang="en-US" sz="1200" dirty="0">
                        <a:latin typeface="Calibri" charset="0"/>
                        <a:ea typeface="Calibri" charset="0"/>
                        <a:cs typeface="Calibri" charset="0"/>
                      </a:endParaRPr>
                    </a:p>
                  </a:txBody>
                  <a:tcPr marL="36576" marR="36576" marT="36576" marB="36576"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F2F5F9"/>
                    </a:solidFill>
                  </a:tcPr>
                </a:tc>
                <a:tc>
                  <a:txBody>
                    <a:bodyPr/>
                    <a:lstStyle/>
                    <a:p>
                      <a:pPr algn="ctr" indent="0" marL="0">
                        <a:buNone/>
                      </a:pPr>
                      <a:r>
                        <a:rPr lang="en-US" sz="1200" b="1" dirty="0">
                          <a:solidFill>
                            <a:srgbClr val="C0392B"/>
                          </a:solidFill>
                          <a:latin typeface="Calibri" pitchFamily="34" charset="0"/>
                          <a:ea typeface="Calibri" pitchFamily="34" charset="-122"/>
                          <a:cs typeface="Calibri" pitchFamily="34" charset="-120"/>
                        </a:rPr>
                        <a:t>0.5</a:t>
                      </a:r>
                      <a:endParaRPr lang="en-US" sz="1200" dirty="0">
                        <a:latin typeface="Calibri" charset="0"/>
                        <a:ea typeface="Calibri" charset="0"/>
                        <a:cs typeface="Calibri" charset="0"/>
                      </a:endParaRPr>
                    </a:p>
                  </a:txBody>
                  <a:tcPr marL="36576" marR="36576" marT="36576" marB="36576"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F2F5F9"/>
                    </a:solidFill>
                  </a:tcPr>
                </a:tc>
                <a:tc>
                  <a:txBody>
                    <a:bodyPr/>
                    <a:lstStyle/>
                    <a:p>
                      <a:pPr algn="ctr" indent="0" marL="0">
                        <a:buNone/>
                      </a:pPr>
                      <a:r>
                        <a:rPr lang="en-US" sz="1200" b="1" dirty="0">
                          <a:solidFill>
                            <a:srgbClr val="1F2933"/>
                          </a:solidFill>
                          <a:latin typeface="Calibri" pitchFamily="34" charset="0"/>
                          <a:ea typeface="Calibri" pitchFamily="34" charset="-122"/>
                          <a:cs typeface="Calibri" pitchFamily="34" charset="-120"/>
                        </a:rPr>
                        <a:t>0.6</a:t>
                      </a:r>
                      <a:endParaRPr lang="en-US" sz="1200" dirty="0">
                        <a:latin typeface="Calibri" charset="0"/>
                        <a:ea typeface="Calibri" charset="0"/>
                        <a:cs typeface="Calibri" charset="0"/>
                      </a:endParaRPr>
                    </a:p>
                  </a:txBody>
                  <a:tcPr marL="36576" marR="36576" marT="36576" marB="36576"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F2F5F9"/>
                    </a:solidFill>
                  </a:tcPr>
                </a:tc>
                <a:tc>
                  <a:txBody>
                    <a:bodyPr/>
                    <a:lstStyle/>
                    <a:p>
                      <a:pPr algn="ctr" indent="0" marL="0">
                        <a:buNone/>
                      </a:pPr>
                      <a:r>
                        <a:rPr lang="en-US" sz="1200" b="1" dirty="0">
                          <a:solidFill>
                            <a:srgbClr val="1F2933"/>
                          </a:solidFill>
                          <a:latin typeface="Calibri" pitchFamily="34" charset="0"/>
                          <a:ea typeface="Calibri" pitchFamily="34" charset="-122"/>
                          <a:cs typeface="Calibri" pitchFamily="34" charset="-120"/>
                        </a:rPr>
                        <a:t>0.7</a:t>
                      </a:r>
                      <a:endParaRPr lang="en-US" sz="1200" dirty="0">
                        <a:latin typeface="Calibri" charset="0"/>
                        <a:ea typeface="Calibri" charset="0"/>
                        <a:cs typeface="Calibri" charset="0"/>
                      </a:endParaRPr>
                    </a:p>
                  </a:txBody>
                  <a:tcPr marL="36576" marR="36576" marT="36576" marB="36576"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F2F5F9"/>
                    </a:solidFill>
                  </a:tcPr>
                </a:tc>
              </a:tr>
              <a:tr h="329184">
                <a:tc>
                  <a:txBody>
                    <a:bodyPr/>
                    <a:lstStyle/>
                    <a:p>
                      <a:pPr algn="ctr" indent="0" marL="0">
                        <a:buNone/>
                      </a:pPr>
                      <a:r>
                        <a:rPr lang="en-US" sz="1200" b="1" dirty="0">
                          <a:solidFill>
                            <a:srgbClr val="1F2933"/>
                          </a:solidFill>
                          <a:latin typeface="Calibri" pitchFamily="34" charset="0"/>
                          <a:ea typeface="Calibri" pitchFamily="34" charset="-122"/>
                          <a:cs typeface="Calibri" pitchFamily="34" charset="-120"/>
                        </a:rPr>
                        <a:t>false alerts / patient-day</a:t>
                      </a:r>
                      <a:endParaRPr lang="en-US" sz="1200" dirty="0">
                        <a:latin typeface="Calibri" charset="0"/>
                        <a:ea typeface="Calibri" charset="0"/>
                        <a:cs typeface="Calibri" charset="0"/>
                      </a:endParaRPr>
                    </a:p>
                  </a:txBody>
                  <a:tcPr marL="36576" marR="36576" marT="36576" marB="36576"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3"/>
                          </a:solidFill>
                          <a:latin typeface="Calibri" pitchFamily="34" charset="0"/>
                          <a:ea typeface="Calibri" pitchFamily="34" charset="-122"/>
                          <a:cs typeface="Calibri" pitchFamily="34" charset="-120"/>
                        </a:rPr>
                        <a:t>1.32</a:t>
                      </a:r>
                      <a:endParaRPr lang="en-US" sz="1200" dirty="0">
                        <a:latin typeface="Calibri" charset="0"/>
                        <a:ea typeface="Calibri" charset="0"/>
                        <a:cs typeface="Calibri" charset="0"/>
                      </a:endParaRPr>
                    </a:p>
                  </a:txBody>
                  <a:tcPr marL="36576" marR="36576" marT="36576" marB="36576"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3"/>
                          </a:solidFill>
                          <a:latin typeface="Calibri" pitchFamily="34" charset="0"/>
                          <a:ea typeface="Calibri" pitchFamily="34" charset="-122"/>
                          <a:cs typeface="Calibri" pitchFamily="34" charset="-120"/>
                        </a:rPr>
                        <a:t>1.15</a:t>
                      </a:r>
                      <a:endParaRPr lang="en-US" sz="1200" dirty="0">
                        <a:latin typeface="Calibri" charset="0"/>
                        <a:ea typeface="Calibri" charset="0"/>
                        <a:cs typeface="Calibri" charset="0"/>
                      </a:endParaRPr>
                    </a:p>
                  </a:txBody>
                  <a:tcPr marL="36576" marR="36576" marT="36576" marB="36576"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3"/>
                          </a:solidFill>
                          <a:latin typeface="Calibri" pitchFamily="34" charset="0"/>
                          <a:ea typeface="Calibri" pitchFamily="34" charset="-122"/>
                          <a:cs typeface="Calibri" pitchFamily="34" charset="-120"/>
                        </a:rPr>
                        <a:t>0.85</a:t>
                      </a:r>
                      <a:endParaRPr lang="en-US" sz="1200" dirty="0">
                        <a:latin typeface="Calibri" charset="0"/>
                        <a:ea typeface="Calibri" charset="0"/>
                        <a:cs typeface="Calibri" charset="0"/>
                      </a:endParaRPr>
                    </a:p>
                  </a:txBody>
                  <a:tcPr marL="36576" marR="36576" marT="36576" marB="36576"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C0392B"/>
                          </a:solidFill>
                          <a:latin typeface="Calibri" pitchFamily="34" charset="0"/>
                          <a:ea typeface="Calibri" pitchFamily="34" charset="-122"/>
                          <a:cs typeface="Calibri" pitchFamily="34" charset="-120"/>
                        </a:rPr>
                        <a:t>0.69</a:t>
                      </a:r>
                      <a:endParaRPr lang="en-US" sz="1200" dirty="0">
                        <a:latin typeface="Calibri" charset="0"/>
                        <a:ea typeface="Calibri" charset="0"/>
                        <a:cs typeface="Calibri" charset="0"/>
                      </a:endParaRPr>
                    </a:p>
                  </a:txBody>
                  <a:tcPr marL="36576" marR="36576" marT="36576" marB="36576"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3"/>
                          </a:solidFill>
                          <a:latin typeface="Calibri" pitchFamily="34" charset="0"/>
                          <a:ea typeface="Calibri" pitchFamily="34" charset="-122"/>
                          <a:cs typeface="Calibri" pitchFamily="34" charset="-120"/>
                        </a:rPr>
                        <a:t>0.49</a:t>
                      </a:r>
                      <a:endParaRPr lang="en-US" sz="1200" dirty="0">
                        <a:latin typeface="Calibri" charset="0"/>
                        <a:ea typeface="Calibri" charset="0"/>
                        <a:cs typeface="Calibri" charset="0"/>
                      </a:endParaRPr>
                    </a:p>
                  </a:txBody>
                  <a:tcPr marL="36576" marR="36576" marT="36576" marB="36576"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3"/>
                          </a:solidFill>
                          <a:latin typeface="Calibri" pitchFamily="34" charset="0"/>
                          <a:ea typeface="Calibri" pitchFamily="34" charset="-122"/>
                          <a:cs typeface="Calibri" pitchFamily="34" charset="-120"/>
                        </a:rPr>
                        <a:t>0.27</a:t>
                      </a:r>
                      <a:endParaRPr lang="en-US" sz="1200" dirty="0">
                        <a:latin typeface="Calibri" charset="0"/>
                        <a:ea typeface="Calibri" charset="0"/>
                        <a:cs typeface="Calibri" charset="0"/>
                      </a:endParaRPr>
                    </a:p>
                  </a:txBody>
                  <a:tcPr marL="36576" marR="36576" marT="36576" marB="36576"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7498080" y="1325880"/>
            <a:ext cx="4114800" cy="365760"/>
          </a:xfrm>
          <a:prstGeom prst="rect">
            <a:avLst/>
          </a:prstGeom>
          <a:noFill/>
          <a:ln/>
        </p:spPr>
        <p:txBody>
          <a:bodyPr wrap="square" lIns="0" tIns="0" rIns="0" bIns="0" rtlCol="0" anchor="ctr"/>
          <a:lstStyle/>
          <a:p>
            <a:pPr indent="0" marL="0">
              <a:buNone/>
            </a:pPr>
            <a:r>
              <a:rPr lang="en-US" sz="1700" b="1" dirty="0">
                <a:solidFill>
                  <a:srgbClr val="12344D"/>
                </a:solidFill>
                <a:latin typeface="Cambria" pitchFamily="34" charset="0"/>
                <a:ea typeface="Cambria" pitchFamily="34" charset="-122"/>
                <a:cs typeface="Cambria" pitchFamily="34" charset="-120"/>
              </a:rPr>
              <a:t>Dashboard default: threshold 0.5</a:t>
            </a:r>
            <a:endParaRPr lang="en-US" sz="1700" dirty="0"/>
          </a:p>
        </p:txBody>
      </p:sp>
      <p:sp>
        <p:nvSpPr>
          <p:cNvPr id="6" name="Shape 2"/>
          <p:cNvSpPr/>
          <p:nvPr/>
        </p:nvSpPr>
        <p:spPr>
          <a:xfrm>
            <a:off x="7498080" y="1828800"/>
            <a:ext cx="1920240" cy="1325880"/>
          </a:xfrm>
          <a:prstGeom prst="roundRect">
            <a:avLst>
              <a:gd name="adj" fmla="val 5517"/>
            </a:avLst>
          </a:prstGeom>
          <a:solidFill>
            <a:srgbClr val="F2F5F9"/>
          </a:solidFill>
          <a:ln w="12700">
            <a:solidFill>
              <a:srgbClr val="F2F5F9"/>
            </a:solidFill>
            <a:prstDash val="solid"/>
          </a:ln>
        </p:spPr>
      </p:sp>
      <p:sp>
        <p:nvSpPr>
          <p:cNvPr id="7" name="Text 3"/>
          <p:cNvSpPr txBox="1"/>
          <p:nvPr/>
        </p:nvSpPr>
        <p:spPr>
          <a:xfrm>
            <a:off x="7653528" y="1874520"/>
            <a:ext cx="1645920" cy="566928"/>
          </a:xfrm>
          <a:prstGeom prst="rect">
            <a:avLst/>
          </a:prstGeom>
          <a:noFill/>
          <a:ln/>
        </p:spPr>
        <p:txBody>
          <a:bodyPr wrap="square" lIns="0" tIns="0" rIns="0" bIns="0" rtlCol="0" anchor="b"/>
          <a:lstStyle/>
          <a:p>
            <a:pPr indent="0" marL="0">
              <a:buNone/>
            </a:pPr>
            <a:r>
              <a:rPr lang="en-US" sz="2800" b="1" dirty="0">
                <a:solidFill>
                  <a:srgbClr val="2F6FB0"/>
                </a:solidFill>
                <a:latin typeface="Cambria" pitchFamily="34" charset="0"/>
                <a:ea typeface="Cambria" pitchFamily="34" charset="-122"/>
                <a:cs typeface="Cambria" pitchFamily="34" charset="-120"/>
              </a:rPr>
              <a:t>92 %</a:t>
            </a:r>
            <a:endParaRPr lang="en-US" sz="2800" dirty="0"/>
          </a:p>
        </p:txBody>
      </p:sp>
      <p:sp>
        <p:nvSpPr>
          <p:cNvPr id="8" name="Text 4"/>
          <p:cNvSpPr txBox="1"/>
          <p:nvPr/>
        </p:nvSpPr>
        <p:spPr>
          <a:xfrm>
            <a:off x="7653528" y="2478024"/>
            <a:ext cx="1645920" cy="502920"/>
          </a:xfrm>
          <a:prstGeom prst="rect">
            <a:avLst/>
          </a:prstGeom>
          <a:noFill/>
          <a:ln/>
        </p:spPr>
        <p:txBody>
          <a:bodyPr wrap="square" lIns="0" tIns="0" rIns="0" bIns="0" rtlCol="0" anchor="t"/>
          <a:lstStyle/>
          <a:p>
            <a:pPr indent="0" marL="0">
              <a:buNone/>
            </a:pPr>
            <a:r>
              <a:rPr lang="en-US" sz="1200" dirty="0">
                <a:solidFill>
                  <a:srgbClr val="5B6B7B"/>
                </a:solidFill>
                <a:latin typeface="Calibri" pitchFamily="34" charset="0"/>
                <a:ea typeface="Calibri" pitchFamily="34" charset="-122"/>
                <a:cs typeface="Calibri" pitchFamily="34" charset="-120"/>
              </a:rPr>
              <a:t>of spikes caught</a:t>
            </a:r>
            <a:endParaRPr lang="en-US" sz="1200" dirty="0"/>
          </a:p>
        </p:txBody>
      </p:sp>
      <p:sp>
        <p:nvSpPr>
          <p:cNvPr id="9" name="Shape 5"/>
          <p:cNvSpPr/>
          <p:nvPr/>
        </p:nvSpPr>
        <p:spPr>
          <a:xfrm>
            <a:off x="9601200" y="1828800"/>
            <a:ext cx="1920240" cy="1325880"/>
          </a:xfrm>
          <a:prstGeom prst="roundRect">
            <a:avLst>
              <a:gd name="adj" fmla="val 5517"/>
            </a:avLst>
          </a:prstGeom>
          <a:solidFill>
            <a:srgbClr val="F2F5F9"/>
          </a:solidFill>
          <a:ln w="12700">
            <a:solidFill>
              <a:srgbClr val="F2F5F9"/>
            </a:solidFill>
            <a:prstDash val="solid"/>
          </a:ln>
        </p:spPr>
      </p:sp>
      <p:sp>
        <p:nvSpPr>
          <p:cNvPr id="10" name="Text 6"/>
          <p:cNvSpPr txBox="1"/>
          <p:nvPr/>
        </p:nvSpPr>
        <p:spPr>
          <a:xfrm>
            <a:off x="9756648" y="1874520"/>
            <a:ext cx="1645920" cy="566928"/>
          </a:xfrm>
          <a:prstGeom prst="rect">
            <a:avLst/>
          </a:prstGeom>
          <a:noFill/>
          <a:ln/>
        </p:spPr>
        <p:txBody>
          <a:bodyPr wrap="square" lIns="0" tIns="0" rIns="0" bIns="0" rtlCol="0" anchor="b"/>
          <a:lstStyle/>
          <a:p>
            <a:pPr indent="0" marL="0">
              <a:buNone/>
            </a:pPr>
            <a:r>
              <a:rPr lang="en-US" sz="2800" b="1" dirty="0">
                <a:solidFill>
                  <a:srgbClr val="E07A2F"/>
                </a:solidFill>
                <a:latin typeface="Cambria" pitchFamily="34" charset="0"/>
                <a:ea typeface="Cambria" pitchFamily="34" charset="-122"/>
                <a:cs typeface="Cambria" pitchFamily="34" charset="-120"/>
              </a:rPr>
              <a:t>80 min</a:t>
            </a:r>
            <a:endParaRPr lang="en-US" sz="2800" dirty="0"/>
          </a:p>
        </p:txBody>
      </p:sp>
      <p:sp>
        <p:nvSpPr>
          <p:cNvPr id="11" name="Text 7"/>
          <p:cNvSpPr txBox="1"/>
          <p:nvPr/>
        </p:nvSpPr>
        <p:spPr>
          <a:xfrm>
            <a:off x="9756648" y="2478024"/>
            <a:ext cx="1645920" cy="502920"/>
          </a:xfrm>
          <a:prstGeom prst="rect">
            <a:avLst/>
          </a:prstGeom>
          <a:noFill/>
          <a:ln/>
        </p:spPr>
        <p:txBody>
          <a:bodyPr wrap="square" lIns="0" tIns="0" rIns="0" bIns="0" rtlCol="0" anchor="t"/>
          <a:lstStyle/>
          <a:p>
            <a:pPr indent="0" marL="0">
              <a:buNone/>
            </a:pPr>
            <a:r>
              <a:rPr lang="en-US" sz="1200" dirty="0">
                <a:solidFill>
                  <a:srgbClr val="5B6B7B"/>
                </a:solidFill>
                <a:latin typeface="Calibri" pitchFamily="34" charset="0"/>
                <a:ea typeface="Calibri" pitchFamily="34" charset="-122"/>
                <a:cs typeface="Calibri" pitchFamily="34" charset="-120"/>
              </a:rPr>
              <a:t>median warning time</a:t>
            </a:r>
            <a:endParaRPr lang="en-US" sz="1200" dirty="0"/>
          </a:p>
        </p:txBody>
      </p:sp>
      <p:sp>
        <p:nvSpPr>
          <p:cNvPr id="12" name="Shape 8"/>
          <p:cNvSpPr/>
          <p:nvPr/>
        </p:nvSpPr>
        <p:spPr>
          <a:xfrm>
            <a:off x="7498080" y="3337560"/>
            <a:ext cx="1920240" cy="1325880"/>
          </a:xfrm>
          <a:prstGeom prst="roundRect">
            <a:avLst>
              <a:gd name="adj" fmla="val 5517"/>
            </a:avLst>
          </a:prstGeom>
          <a:solidFill>
            <a:srgbClr val="F2F5F9"/>
          </a:solidFill>
          <a:ln w="12700">
            <a:solidFill>
              <a:srgbClr val="F2F5F9"/>
            </a:solidFill>
            <a:prstDash val="solid"/>
          </a:ln>
        </p:spPr>
      </p:sp>
      <p:sp>
        <p:nvSpPr>
          <p:cNvPr id="13" name="Text 9"/>
          <p:cNvSpPr txBox="1"/>
          <p:nvPr/>
        </p:nvSpPr>
        <p:spPr>
          <a:xfrm>
            <a:off x="7653528" y="3383280"/>
            <a:ext cx="1645920" cy="566928"/>
          </a:xfrm>
          <a:prstGeom prst="rect">
            <a:avLst/>
          </a:prstGeom>
          <a:noFill/>
          <a:ln/>
        </p:spPr>
        <p:txBody>
          <a:bodyPr wrap="square" lIns="0" tIns="0" rIns="0" bIns="0" rtlCol="0" anchor="b"/>
          <a:lstStyle/>
          <a:p>
            <a:pPr indent="0" marL="0">
              <a:buNone/>
            </a:pPr>
            <a:r>
              <a:rPr lang="en-US" sz="2800" b="1" dirty="0">
                <a:solidFill>
                  <a:srgbClr val="C0392B"/>
                </a:solidFill>
                <a:latin typeface="Cambria" pitchFamily="34" charset="0"/>
                <a:ea typeface="Cambria" pitchFamily="34" charset="-122"/>
                <a:cs typeface="Cambria" pitchFamily="34" charset="-120"/>
              </a:rPr>
              <a:t>0.69</a:t>
            </a:r>
            <a:endParaRPr lang="en-US" sz="2800" dirty="0"/>
          </a:p>
        </p:txBody>
      </p:sp>
      <p:sp>
        <p:nvSpPr>
          <p:cNvPr id="14" name="Text 10"/>
          <p:cNvSpPr txBox="1"/>
          <p:nvPr/>
        </p:nvSpPr>
        <p:spPr>
          <a:xfrm>
            <a:off x="7653528" y="3986784"/>
            <a:ext cx="1645920" cy="502920"/>
          </a:xfrm>
          <a:prstGeom prst="rect">
            <a:avLst/>
          </a:prstGeom>
          <a:noFill/>
          <a:ln/>
        </p:spPr>
        <p:txBody>
          <a:bodyPr wrap="square" lIns="0" tIns="0" rIns="0" bIns="0" rtlCol="0" anchor="t"/>
          <a:lstStyle/>
          <a:p>
            <a:pPr indent="0" marL="0">
              <a:buNone/>
            </a:pPr>
            <a:r>
              <a:rPr lang="en-US" sz="1200" dirty="0">
                <a:solidFill>
                  <a:srgbClr val="5B6B7B"/>
                </a:solidFill>
                <a:latin typeface="Calibri" pitchFamily="34" charset="0"/>
                <a:ea typeface="Calibri" pitchFamily="34" charset="-122"/>
                <a:cs typeface="Calibri" pitchFamily="34" charset="-120"/>
              </a:rPr>
              <a:t>false alert episodes per patient-day</a:t>
            </a:r>
            <a:endParaRPr lang="en-US" sz="1200" dirty="0"/>
          </a:p>
        </p:txBody>
      </p:sp>
      <p:sp>
        <p:nvSpPr>
          <p:cNvPr id="15" name="Shape 11"/>
          <p:cNvSpPr/>
          <p:nvPr/>
        </p:nvSpPr>
        <p:spPr>
          <a:xfrm>
            <a:off x="9601200" y="3337560"/>
            <a:ext cx="1920240" cy="1325880"/>
          </a:xfrm>
          <a:prstGeom prst="roundRect">
            <a:avLst>
              <a:gd name="adj" fmla="val 5517"/>
            </a:avLst>
          </a:prstGeom>
          <a:solidFill>
            <a:srgbClr val="F2F5F9"/>
          </a:solidFill>
          <a:ln w="12700">
            <a:solidFill>
              <a:srgbClr val="F2F5F9"/>
            </a:solidFill>
            <a:prstDash val="solid"/>
          </a:ln>
        </p:spPr>
      </p:sp>
      <p:sp>
        <p:nvSpPr>
          <p:cNvPr id="16" name="Text 12"/>
          <p:cNvSpPr txBox="1"/>
          <p:nvPr/>
        </p:nvSpPr>
        <p:spPr>
          <a:xfrm>
            <a:off x="9756648" y="3383280"/>
            <a:ext cx="1645920" cy="566928"/>
          </a:xfrm>
          <a:prstGeom prst="rect">
            <a:avLst/>
          </a:prstGeom>
          <a:noFill/>
          <a:ln/>
        </p:spPr>
        <p:txBody>
          <a:bodyPr wrap="square" lIns="0" tIns="0" rIns="0" bIns="0" rtlCol="0" anchor="b"/>
          <a:lstStyle/>
          <a:p>
            <a:pPr indent="0" marL="0">
              <a:buNone/>
            </a:pPr>
            <a:r>
              <a:rPr lang="en-US" sz="2800" b="1" dirty="0">
                <a:solidFill>
                  <a:srgbClr val="1E8449"/>
                </a:solidFill>
                <a:latin typeface="Cambria" pitchFamily="34" charset="0"/>
                <a:ea typeface="Cambria" pitchFamily="34" charset="-122"/>
                <a:cs typeface="Cambria" pitchFamily="34" charset="-120"/>
              </a:rPr>
              <a:t>68 %</a:t>
            </a:r>
            <a:endParaRPr lang="en-US" sz="2800" dirty="0"/>
          </a:p>
        </p:txBody>
      </p:sp>
      <p:sp>
        <p:nvSpPr>
          <p:cNvPr id="17" name="Text 13"/>
          <p:cNvSpPr txBox="1"/>
          <p:nvPr/>
        </p:nvSpPr>
        <p:spPr>
          <a:xfrm>
            <a:off x="9756648" y="3986784"/>
            <a:ext cx="1645920" cy="502920"/>
          </a:xfrm>
          <a:prstGeom prst="rect">
            <a:avLst/>
          </a:prstGeom>
          <a:noFill/>
          <a:ln/>
        </p:spPr>
        <p:txBody>
          <a:bodyPr wrap="square" lIns="0" tIns="0" rIns="0" bIns="0" rtlCol="0" anchor="t"/>
          <a:lstStyle/>
          <a:p>
            <a:pPr indent="0" marL="0">
              <a:buNone/>
            </a:pPr>
            <a:r>
              <a:rPr lang="en-US" sz="1200" dirty="0">
                <a:solidFill>
                  <a:srgbClr val="5B6B7B"/>
                </a:solidFill>
                <a:latin typeface="Calibri" pitchFamily="34" charset="0"/>
                <a:ea typeface="Calibri" pitchFamily="34" charset="-122"/>
                <a:cs typeface="Calibri" pitchFamily="34" charset="-120"/>
              </a:rPr>
              <a:t>of alerts followed by a spike</a:t>
            </a:r>
            <a:endParaRPr lang="en-US" sz="1200" dirty="0"/>
          </a:p>
        </p:txBody>
      </p:sp>
      <p:sp>
        <p:nvSpPr>
          <p:cNvPr id="18" name="Text 14"/>
          <p:cNvSpPr txBox="1"/>
          <p:nvPr/>
        </p:nvSpPr>
        <p:spPr>
          <a:xfrm>
            <a:off x="7498080" y="4983480"/>
            <a:ext cx="4114800" cy="11887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doctor's sensitivity slider moves along this curve: at 0.36, 96 % of spikes are caught at 1.0 false alert a day; at 0.7, 85 % at 0.27 a day. Fewer false alarms means less alert fatigue.</a:t>
            </a:r>
            <a:endParaRPr lang="en-US" sz="1300" dirty="0"/>
          </a:p>
        </p:txBody>
      </p:sp>
      <p:sp>
        <p:nvSpPr>
          <p:cNvPr id="20" name="Text 15"/>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9AA5B1"/>
                </a:solidFill>
                <a:latin typeface="Calibri" pitchFamily="34" charset="0"/>
                <a:ea typeface="Calibri" pitchFamily="34" charset="-122"/>
                <a:cs typeface="Calibri" pitchFamily="34" charset="-120"/>
              </a:rPr>
              <a:t>Team AMRIT_VIT · T2D digital twin · synthetic patients only</a:t>
            </a:r>
            <a:endParaRPr lang="en-US" sz="1000" dirty="0"/>
          </a:p>
        </p:txBody>
      </p:sp>
      <p:sp>
        <p:nvSpPr>
          <p:cNvPr id="21" name="Text 16"/>
          <p:cNvSpPr txBox="1"/>
          <p:nvPr/>
        </p:nvSpPr>
        <p:spPr>
          <a:xfrm>
            <a:off x="10911535" y="6419088"/>
            <a:ext cx="731520" cy="274320"/>
          </a:xfrm>
          <a:prstGeom prst="rect">
            <a:avLst/>
          </a:prstGeom>
          <a:noFill/>
          <a:ln/>
        </p:spPr>
        <p:txBody>
          <a:bodyPr wrap="square" lIns="0" tIns="0" rIns="0" bIns="0" rtlCol="0" anchor="ctr"/>
          <a:lstStyle/>
          <a:p>
            <a:pPr algn="r" indent="0" marL="0">
              <a:buNone/>
            </a:pPr>
            <a:r>
              <a:rPr lang="en-US" sz="1000" dirty="0">
                <a:solidFill>
                  <a:srgbClr val="9AA5B1"/>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lstStyle/>
          <a:p>
            <a:pPr indent="0" marL="0">
              <a:buNone/>
            </a:pPr>
            <a:r>
              <a:rPr lang="en-US" sz="3000" b="1" dirty="0">
                <a:solidFill>
                  <a:srgbClr val="12344D"/>
                </a:solidFill>
                <a:latin typeface="Cambria" pitchFamily="34" charset="0"/>
                <a:ea typeface="Cambria" pitchFamily="34" charset="-122"/>
                <a:cs typeface="Cambria" pitchFamily="34" charset="-120"/>
              </a:rPr>
              <a:t>Why this alert: explanations a doctor can read</a:t>
            </a:r>
            <a:endParaRPr lang="en-US" sz="3000" dirty="0"/>
          </a:p>
        </p:txBody>
      </p:sp>
      <p:pic>
        <p:nvPicPr>
          <p:cNvPr id="3" name="Image 0" descr="The dashboard's 'Why this prediction' panel with drivers in mg/dL">    </p:cNvPr>
          <p:cNvPicPr>
            <a:picLocks noChangeAspect="1"/>
          </p:cNvPicPr>
          <p:nvPr/>
        </p:nvPicPr>
        <p:blipFill>
          <a:blip r:embed="rId1"/>
          <a:stretch>
            <a:fillRect/>
          </a:stretch>
        </p:blipFill>
        <p:spPr>
          <a:xfrm>
            <a:off x="548640" y="1916614"/>
            <a:ext cx="6858000" cy="3710571"/>
          </a:xfrm>
          <a:prstGeom prst="rect">
            <a:avLst/>
          </a:prstGeom>
        </p:spPr>
      </p:pic>
      <p:sp>
        <p:nvSpPr>
          <p:cNvPr id="4" name="Text 1"/>
          <p:cNvSpPr txBox="1"/>
          <p:nvPr/>
        </p:nvSpPr>
        <p:spPr>
          <a:xfrm>
            <a:off x="548640" y="5718626"/>
            <a:ext cx="6858000" cy="548640"/>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Scene 1 (SP-0218, 13:05): a meal logged a minute ago pushes the predicted peak up; her current glucose of 116 pulls it down.</a:t>
            </a:r>
            <a:endParaRPr lang="en-US" sz="1200" dirty="0"/>
          </a:p>
        </p:txBody>
      </p:sp>
      <p:sp>
        <p:nvSpPr>
          <p:cNvPr id="5" name="Text 2"/>
          <p:cNvSpPr txBox="1"/>
          <p:nvPr/>
        </p:nvSpPr>
        <p:spPr>
          <a:xfrm>
            <a:off x="7818120" y="1325880"/>
            <a:ext cx="3840480" cy="566928"/>
          </a:xfrm>
          <a:prstGeom prst="rect">
            <a:avLst/>
          </a:prstGeom>
          <a:noFill/>
          <a:ln/>
        </p:spPr>
        <p:txBody>
          <a:bodyPr wrap="square" lIns="0" tIns="0" rIns="0" bIns="0" rtlCol="0" anchor="b"/>
          <a:lstStyle/>
          <a:p>
            <a:pPr indent="0" marL="0">
              <a:buNone/>
            </a:pPr>
            <a:r>
              <a:rPr lang="en-US" sz="2800" b="1" dirty="0">
                <a:solidFill>
                  <a:srgbClr val="1E8449"/>
                </a:solidFill>
                <a:latin typeface="Cambria" pitchFamily="34" charset="0"/>
                <a:ea typeface="Cambria" pitchFamily="34" charset="-122"/>
                <a:cs typeface="Cambria" pitchFamily="34" charset="-120"/>
              </a:rPr>
              <a:t>99.8 %</a:t>
            </a:r>
            <a:endParaRPr lang="en-US" sz="2800" dirty="0"/>
          </a:p>
        </p:txBody>
      </p:sp>
      <p:sp>
        <p:nvSpPr>
          <p:cNvPr id="6" name="Text 3"/>
          <p:cNvSpPr txBox="1"/>
          <p:nvPr/>
        </p:nvSpPr>
        <p:spPr>
          <a:xfrm>
            <a:off x="7818120" y="1929384"/>
            <a:ext cx="3840480" cy="502920"/>
          </a:xfrm>
          <a:prstGeom prst="rect">
            <a:avLst/>
          </a:prstGeom>
          <a:noFill/>
          <a:ln/>
        </p:spPr>
        <p:txBody>
          <a:bodyPr wrap="square" lIns="0" tIns="0" rIns="0" bIns="0" rtlCol="0" anchor="t"/>
          <a:lstStyle/>
          <a:p>
            <a:pPr indent="0" marL="0">
              <a:buNone/>
            </a:pPr>
            <a:r>
              <a:rPr lang="en-US" sz="1200" dirty="0">
                <a:solidFill>
                  <a:srgbClr val="5B6B7B"/>
                </a:solidFill>
                <a:latin typeface="Calibri" pitchFamily="34" charset="0"/>
                <a:ea typeface="Calibri" pitchFamily="34" charset="-122"/>
                <a:cs typeface="Calibri" pitchFamily="34" charset="-120"/>
              </a:rPr>
              <a:t>after a logged meal of 60 g or more, "logged meals" is a top-3 driver</a:t>
            </a:r>
            <a:endParaRPr lang="en-US" sz="1200" dirty="0"/>
          </a:p>
        </p:txBody>
      </p:sp>
      <p:sp>
        <p:nvSpPr>
          <p:cNvPr id="7" name="Text 4"/>
          <p:cNvSpPr txBox="1"/>
          <p:nvPr/>
        </p:nvSpPr>
        <p:spPr>
          <a:xfrm>
            <a:off x="7818120" y="2651760"/>
            <a:ext cx="3840480" cy="566928"/>
          </a:xfrm>
          <a:prstGeom prst="rect">
            <a:avLst/>
          </a:prstGeom>
          <a:noFill/>
          <a:ln/>
        </p:spPr>
        <p:txBody>
          <a:bodyPr wrap="square" lIns="0" tIns="0" rIns="0" bIns="0" rtlCol="0" anchor="b"/>
          <a:lstStyle/>
          <a:p>
            <a:pPr indent="0" marL="0">
              <a:buNone/>
            </a:pPr>
            <a:r>
              <a:rPr lang="en-US" sz="2800" b="1" dirty="0">
                <a:solidFill>
                  <a:srgbClr val="2F6FB0"/>
                </a:solidFill>
                <a:latin typeface="Cambria" pitchFamily="34" charset="0"/>
                <a:ea typeface="Cambria" pitchFamily="34" charset="-122"/>
                <a:cs typeface="Cambria" pitchFamily="34" charset="-120"/>
              </a:rPr>
              <a:t>19.5 vs 5.6</a:t>
            </a:r>
            <a:endParaRPr lang="en-US" sz="2800" dirty="0"/>
          </a:p>
        </p:txBody>
      </p:sp>
      <p:sp>
        <p:nvSpPr>
          <p:cNvPr id="8" name="Text 5"/>
          <p:cNvSpPr txBox="1"/>
          <p:nvPr/>
        </p:nvSpPr>
        <p:spPr>
          <a:xfrm>
            <a:off x="7818120" y="3255264"/>
            <a:ext cx="3840480" cy="502920"/>
          </a:xfrm>
          <a:prstGeom prst="rect">
            <a:avLst/>
          </a:prstGeom>
          <a:noFill/>
          <a:ln/>
        </p:spPr>
        <p:txBody>
          <a:bodyPr wrap="square" lIns="0" tIns="0" rIns="0" bIns="0" rtlCol="0" anchor="t"/>
          <a:lstStyle/>
          <a:p>
            <a:pPr indent="0" marL="0">
              <a:buNone/>
            </a:pPr>
            <a:r>
              <a:rPr lang="en-US" sz="1200" dirty="0">
                <a:solidFill>
                  <a:srgbClr val="5B6B7B"/>
                </a:solidFill>
                <a:latin typeface="Calibri" pitchFamily="34" charset="0"/>
                <a:ea typeface="Calibri" pitchFamily="34" charset="-122"/>
                <a:cs typeface="Calibri" pitchFamily="34" charset="-120"/>
              </a:rPr>
              <a:t>mg/dL moved by removing the top-3 concepts vs 3 random ones (deletion test)</a:t>
            </a:r>
            <a:endParaRPr lang="en-US" sz="1200" dirty="0"/>
          </a:p>
        </p:txBody>
      </p:sp>
      <p:sp>
        <p:nvSpPr>
          <p:cNvPr id="9" name="Text 6"/>
          <p:cNvSpPr txBox="1"/>
          <p:nvPr/>
        </p:nvSpPr>
        <p:spPr>
          <a:xfrm>
            <a:off x="7818120" y="3977640"/>
            <a:ext cx="3840480" cy="566928"/>
          </a:xfrm>
          <a:prstGeom prst="rect">
            <a:avLst/>
          </a:prstGeom>
          <a:noFill/>
          <a:ln/>
        </p:spPr>
        <p:txBody>
          <a:bodyPr wrap="square" lIns="0" tIns="0" rIns="0" bIns="0" rtlCol="0" anchor="b"/>
          <a:lstStyle/>
          <a:p>
            <a:pPr indent="0" marL="0">
              <a:buNone/>
            </a:pPr>
            <a:r>
              <a:rPr lang="en-US" sz="2800" b="1" dirty="0">
                <a:solidFill>
                  <a:srgbClr val="E07A2F"/>
                </a:solidFill>
                <a:latin typeface="Cambria" pitchFamily="34" charset="0"/>
                <a:ea typeface="Cambria" pitchFamily="34" charset="-122"/>
                <a:cs typeface="Cambria" pitchFamily="34" charset="-120"/>
              </a:rPr>
              <a:t>0.75 vs 0.04</a:t>
            </a:r>
            <a:endParaRPr lang="en-US" sz="2800" dirty="0"/>
          </a:p>
        </p:txBody>
      </p:sp>
      <p:sp>
        <p:nvSpPr>
          <p:cNvPr id="10" name="Text 7"/>
          <p:cNvSpPr txBox="1"/>
          <p:nvPr/>
        </p:nvSpPr>
        <p:spPr>
          <a:xfrm>
            <a:off x="7818120" y="4581144"/>
            <a:ext cx="3840480" cy="502920"/>
          </a:xfrm>
          <a:prstGeom prst="rect">
            <a:avLst/>
          </a:prstGeom>
          <a:noFill/>
          <a:ln/>
        </p:spPr>
        <p:txBody>
          <a:bodyPr wrap="square" lIns="0" tIns="0" rIns="0" bIns="0" rtlCol="0" anchor="t"/>
          <a:lstStyle/>
          <a:p>
            <a:pPr indent="0" marL="0">
              <a:buNone/>
            </a:pPr>
            <a:r>
              <a:rPr lang="en-US" sz="1200" dirty="0">
                <a:solidFill>
                  <a:srgbClr val="5B6B7B"/>
                </a:solidFill>
                <a:latin typeface="Calibri" pitchFamily="34" charset="0"/>
                <a:ea typeface="Calibri" pitchFamily="34" charset="-122"/>
                <a:cs typeface="Calibri" pitchFamily="34" charset="-120"/>
              </a:rPr>
              <a:t>explanation similarity for similar moments vs random pairs</a:t>
            </a:r>
            <a:endParaRPr lang="en-US" sz="1200" dirty="0"/>
          </a:p>
        </p:txBody>
      </p:sp>
      <p:sp>
        <p:nvSpPr>
          <p:cNvPr id="11" name="Shape 8"/>
          <p:cNvSpPr/>
          <p:nvPr/>
        </p:nvSpPr>
        <p:spPr>
          <a:xfrm>
            <a:off x="7818120" y="5349240"/>
            <a:ext cx="3840480" cy="868680"/>
          </a:xfrm>
          <a:prstGeom prst="roundRect">
            <a:avLst>
              <a:gd name="adj" fmla="val 8421"/>
            </a:avLst>
          </a:prstGeom>
          <a:solidFill>
            <a:srgbClr val="F2F5F9"/>
          </a:solidFill>
          <a:ln w="12700">
            <a:solidFill>
              <a:srgbClr val="F2F5F9"/>
            </a:solidFill>
            <a:prstDash val="solid"/>
          </a:ln>
        </p:spPr>
      </p:sp>
      <p:sp>
        <p:nvSpPr>
          <p:cNvPr id="12" name="Text 9"/>
          <p:cNvSpPr txBox="1"/>
          <p:nvPr/>
        </p:nvSpPr>
        <p:spPr>
          <a:xfrm>
            <a:off x="7982712" y="5394960"/>
            <a:ext cx="3566160" cy="777240"/>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SHAP shows what the model relied on, never the effect of a change. What-if answers come only from the ODE twin.</a:t>
            </a:r>
            <a:endParaRPr lang="en-US" sz="1200" dirty="0"/>
          </a:p>
        </p:txBody>
      </p:sp>
      <p:sp>
        <p:nvSpPr>
          <p:cNvPr id="14" name="Text 10"/>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9AA5B1"/>
                </a:solidFill>
                <a:latin typeface="Calibri" pitchFamily="34" charset="0"/>
                <a:ea typeface="Calibri" pitchFamily="34" charset="-122"/>
                <a:cs typeface="Calibri" pitchFamily="34" charset="-120"/>
              </a:rPr>
              <a:t>Team AMRIT_VIT · T2D digital twin · synthetic patients only</a:t>
            </a:r>
            <a:endParaRPr lang="en-US" sz="1000" dirty="0"/>
          </a:p>
        </p:txBody>
      </p:sp>
      <p:sp>
        <p:nvSpPr>
          <p:cNvPr id="15" name="Text 11"/>
          <p:cNvSpPr txBox="1"/>
          <p:nvPr/>
        </p:nvSpPr>
        <p:spPr>
          <a:xfrm>
            <a:off x="10911535" y="6419088"/>
            <a:ext cx="731520" cy="274320"/>
          </a:xfrm>
          <a:prstGeom prst="rect">
            <a:avLst/>
          </a:prstGeom>
          <a:noFill/>
          <a:ln/>
        </p:spPr>
        <p:txBody>
          <a:bodyPr wrap="square" lIns="0" tIns="0" rIns="0" bIns="0" rtlCol="0" anchor="ctr"/>
          <a:lstStyle/>
          <a:p>
            <a:pPr algn="r" indent="0" marL="0">
              <a:buNone/>
            </a:pPr>
            <a:r>
              <a:rPr lang="en-US" sz="1000" dirty="0">
                <a:solidFill>
                  <a:srgbClr val="9AA5B1"/>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lstStyle/>
          <a:p>
            <a:pPr indent="0" marL="0">
              <a:buNone/>
            </a:pPr>
            <a:r>
              <a:rPr lang="en-US" sz="3000" b="1" dirty="0">
                <a:solidFill>
                  <a:srgbClr val="12344D"/>
                </a:solidFill>
                <a:latin typeface="Cambria" pitchFamily="34" charset="0"/>
                <a:ea typeface="Cambria" pitchFamily="34" charset="-122"/>
                <a:cs typeface="Cambria" pitchFamily="34" charset="-120"/>
              </a:rPr>
              <a:t>What-if answers, checked against the truth</a:t>
            </a:r>
            <a:endParaRPr lang="en-US" sz="3000" dirty="0"/>
          </a:p>
        </p:txBody>
      </p:sp>
      <p:graphicFrame>
        <p:nvGraphicFramePr>
          <p:cNvPr id="3" name="Chart 0" descr=""/>
          <p:cNvGraphicFramePr/>
          <p:nvPr/>
        </p:nvGraphicFramePr>
        <p:xfrm>
          <a:off x="548640" y="1280160"/>
          <a:ext cx="6766560" cy="48920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635240" y="1371600"/>
            <a:ext cx="4023360" cy="4846320"/>
          </a:xfrm>
          <a:prstGeom prst="rect">
            <a:avLst/>
          </a:prstGeom>
          <a:noFill/>
          <a:ln/>
        </p:spPr>
        <p:txBody>
          <a:bodyPr wrap="square" lIns="0" tIns="0" rIns="0" bIns="0" rtlCol="0" anchor="t"/>
          <a:lstStyle/>
          <a:p>
            <a:pPr marL="203200" indent="-203200">
              <a:spcAft>
                <a:spcPts val="1200"/>
              </a:spcAft>
              <a:buSzPct val="100000"/>
              <a:buChar char="•"/>
            </a:pPr>
            <a:r>
              <a:rPr lang="en-US" sz="1400" dirty="0">
                <a:solidFill>
                  <a:srgbClr val="1F2933"/>
                </a:solidFill>
                <a:latin typeface="Calibri" pitchFamily="34" charset="0"/>
                <a:ea typeface="Calibri" pitchFamily="34" charset="-122"/>
                <a:cs typeface="Calibri" pitchFamily="34" charset="-120"/>
              </a:rPr>
              <a:t>Only synthetic data allows this test: each of 50 test patients is replayed with the change applied to their true meals, doses and activity.</a:t>
            </a:r>
            <a:endParaRPr lang="en-US" sz="1400" dirty="0"/>
          </a:p>
          <a:p>
            <a:pPr marL="203200" indent="-203200">
              <a:spcAft>
                <a:spcPts val="1200"/>
              </a:spcAft>
              <a:buSzPct val="100000"/>
              <a:buChar char="•"/>
            </a:pPr>
            <a:r>
              <a:rPr lang="en-US" sz="1400" dirty="0">
                <a:solidFill>
                  <a:srgbClr val="1F2933"/>
                </a:solidFill>
                <a:latin typeface="Calibri" pitchFamily="34" charset="0"/>
                <a:ea typeface="Calibri" pitchFamily="34" charset="-122"/>
                <a:cs typeface="Calibri" pitchFamily="34" charset="-120"/>
              </a:rPr>
              <a:t>True median effects: swap −34, half portion −45, skip −84, walk −5 mg/dL.</a:t>
            </a:r>
            <a:endParaRPr lang="en-US" sz="1400" dirty="0"/>
          </a:p>
          <a:p>
            <a:pPr marL="203200" indent="-203200">
              <a:spcAft>
                <a:spcPts val="1200"/>
              </a:spcAft>
              <a:buSzPct val="100000"/>
              <a:buChar char="•"/>
            </a:pPr>
            <a:r>
              <a:rPr lang="en-US" sz="1400" dirty="0">
                <a:solidFill>
                  <a:srgbClr val="1F2933"/>
                </a:solidFill>
                <a:latin typeface="Calibri" pitchFamily="34" charset="0"/>
                <a:ea typeface="Calibri" pitchFamily="34" charset="-122"/>
                <a:cs typeface="Calibri" pitchFamily="34" charset="-120"/>
              </a:rPr>
              <a:t>The predicted change has the right direction for 94 % of patients (84 % for the swap). Personalisation helps most for dish swaps (Spearman 0.91).</a:t>
            </a:r>
            <a:endParaRPr lang="en-US" sz="1400" dirty="0"/>
          </a:p>
          <a:p>
            <a:pPr marL="203200" indent="-203200">
              <a:spcAft>
                <a:spcPts val="1200"/>
              </a:spcAft>
              <a:buSzPct val="100000"/>
              <a:buChar char="•"/>
            </a:pPr>
            <a:r>
              <a:rPr lang="en-US" sz="1400" dirty="0">
                <a:solidFill>
                  <a:srgbClr val="1F2933"/>
                </a:solidFill>
                <a:latin typeface="Calibri" pitchFamily="34" charset="0"/>
                <a:ea typeface="Calibri" pitchFamily="34" charset="-122"/>
                <a:cs typeface="Calibri" pitchFamily="34" charset="-120"/>
              </a:rPr>
              <a:t>Both twins beat the cohort average for every meal change. Large cuts are under-estimated, and a walk's small effect is not predictable.</a:t>
            </a:r>
            <a:endParaRPr lang="en-US" sz="1400" dirty="0"/>
          </a:p>
        </p:txBody>
      </p:sp>
      <p:sp>
        <p:nvSpPr>
          <p:cNvPr id="6"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9AA5B1"/>
                </a:solidFill>
                <a:latin typeface="Calibri" pitchFamily="34" charset="0"/>
                <a:ea typeface="Calibri" pitchFamily="34" charset="-122"/>
                <a:cs typeface="Calibri" pitchFamily="34" charset="-120"/>
              </a:rPr>
              <a:t>Team AMRIT_VIT · T2D digital twin · synthetic patients only</a:t>
            </a:r>
            <a:endParaRPr lang="en-US" sz="1000" dirty="0"/>
          </a:p>
        </p:txBody>
      </p:sp>
      <p:sp>
        <p:nvSpPr>
          <p:cNvPr id="7" name="Text 3"/>
          <p:cNvSpPr txBox="1"/>
          <p:nvPr/>
        </p:nvSpPr>
        <p:spPr>
          <a:xfrm>
            <a:off x="10911535" y="6419088"/>
            <a:ext cx="731520" cy="274320"/>
          </a:xfrm>
          <a:prstGeom prst="rect">
            <a:avLst/>
          </a:prstGeom>
          <a:noFill/>
          <a:ln/>
        </p:spPr>
        <p:txBody>
          <a:bodyPr wrap="square" lIns="0" tIns="0" rIns="0" bIns="0" rtlCol="0" anchor="ctr"/>
          <a:lstStyle/>
          <a:p>
            <a:pPr algn="r" indent="0" marL="0">
              <a:buNone/>
            </a:pPr>
            <a:r>
              <a:rPr lang="en-US" sz="1000" dirty="0">
                <a:solidFill>
                  <a:srgbClr val="9AA5B1"/>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lstStyle/>
          <a:p>
            <a:pPr indent="0" marL="0">
              <a:buNone/>
            </a:pPr>
            <a:r>
              <a:rPr lang="en-US" sz="3000" b="1" dirty="0">
                <a:solidFill>
                  <a:srgbClr val="12344D"/>
                </a:solidFill>
                <a:latin typeface="Cambria" pitchFamily="34" charset="0"/>
                <a:ea typeface="Cambria" pitchFamily="34" charset="-122"/>
                <a:cs typeface="Cambria" pitchFamily="34" charset="-120"/>
              </a:rPr>
              <a:t>Constraints first, a safety check always</a:t>
            </a:r>
            <a:endParaRPr lang="en-US" sz="3000" dirty="0"/>
          </a:p>
        </p:txBody>
      </p:sp>
      <p:sp>
        <p:nvSpPr>
          <p:cNvPr id="3" name="Shape 1"/>
          <p:cNvSpPr/>
          <p:nvPr/>
        </p:nvSpPr>
        <p:spPr>
          <a:xfrm>
            <a:off x="548640" y="1353312"/>
            <a:ext cx="420624" cy="420624"/>
          </a:xfrm>
          <a:prstGeom prst="ellipse">
            <a:avLst/>
          </a:prstGeom>
          <a:solidFill>
            <a:srgbClr val="E07A2F"/>
          </a:solidFill>
          <a:ln w="12700">
            <a:solidFill>
              <a:srgbClr val="E07A2F"/>
            </a:solidFill>
            <a:prstDash val="solid"/>
          </a:ln>
        </p:spPr>
      </p:sp>
      <p:sp>
        <p:nvSpPr>
          <p:cNvPr id="4" name="Text 2"/>
          <p:cNvSpPr txBox="1"/>
          <p:nvPr/>
        </p:nvSpPr>
        <p:spPr>
          <a:xfrm>
            <a:off x="548640" y="1353312"/>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3"/>
          <p:cNvSpPr txBox="1"/>
          <p:nvPr/>
        </p:nvSpPr>
        <p:spPr>
          <a:xfrm>
            <a:off x="1188720" y="1325880"/>
            <a:ext cx="5760720" cy="365760"/>
          </a:xfrm>
          <a:prstGeom prst="rect">
            <a:avLst/>
          </a:prstGeom>
          <a:noFill/>
          <a:ln/>
        </p:spPr>
        <p:txBody>
          <a:bodyPr wrap="square" lIns="0" tIns="0" rIns="0" bIns="0" rtlCol="0" anchor="ctr"/>
          <a:lstStyle/>
          <a:p>
            <a:pPr indent="0" marL="0">
              <a:buNone/>
            </a:pPr>
            <a:r>
              <a:rPr lang="en-US" sz="1700" b="1" dirty="0">
                <a:solidFill>
                  <a:srgbClr val="12344D"/>
                </a:solidFill>
                <a:latin typeface="Cambria" pitchFamily="34" charset="0"/>
                <a:ea typeface="Cambria" pitchFamily="34" charset="-122"/>
                <a:cs typeface="Cambria" pitchFamily="34" charset="-120"/>
              </a:rPr>
              <a:t>Check</a:t>
            </a:r>
            <a:endParaRPr lang="en-US" sz="1700" dirty="0"/>
          </a:p>
        </p:txBody>
      </p:sp>
      <p:sp>
        <p:nvSpPr>
          <p:cNvPr id="6" name="Text 4"/>
          <p:cNvSpPr txBox="1"/>
          <p:nvPr/>
        </p:nvSpPr>
        <p:spPr>
          <a:xfrm>
            <a:off x="1188720" y="1709928"/>
            <a:ext cx="5760720" cy="7315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Diet type, allergies, intolerances and eGFR drug limits are checked before anything is simulated. Blocked options show why.</a:t>
            </a:r>
            <a:endParaRPr lang="en-US" sz="1300" dirty="0"/>
          </a:p>
        </p:txBody>
      </p:sp>
      <p:sp>
        <p:nvSpPr>
          <p:cNvPr id="7" name="Shape 5"/>
          <p:cNvSpPr/>
          <p:nvPr/>
        </p:nvSpPr>
        <p:spPr>
          <a:xfrm>
            <a:off x="548640" y="2542032"/>
            <a:ext cx="420624" cy="420624"/>
          </a:xfrm>
          <a:prstGeom prst="ellipse">
            <a:avLst/>
          </a:prstGeom>
          <a:solidFill>
            <a:srgbClr val="E07A2F"/>
          </a:solidFill>
          <a:ln w="12700">
            <a:solidFill>
              <a:srgbClr val="E07A2F"/>
            </a:solidFill>
            <a:prstDash val="solid"/>
          </a:ln>
        </p:spPr>
      </p:sp>
      <p:sp>
        <p:nvSpPr>
          <p:cNvPr id="8" name="Text 6"/>
          <p:cNvSpPr txBox="1"/>
          <p:nvPr/>
        </p:nvSpPr>
        <p:spPr>
          <a:xfrm>
            <a:off x="548640" y="2542032"/>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txBox="1"/>
          <p:nvPr/>
        </p:nvSpPr>
        <p:spPr>
          <a:xfrm>
            <a:off x="1188720" y="2514600"/>
            <a:ext cx="5760720" cy="365760"/>
          </a:xfrm>
          <a:prstGeom prst="rect">
            <a:avLst/>
          </a:prstGeom>
          <a:noFill/>
          <a:ln/>
        </p:spPr>
        <p:txBody>
          <a:bodyPr wrap="square" lIns="0" tIns="0" rIns="0" bIns="0" rtlCol="0" anchor="ctr"/>
          <a:lstStyle/>
          <a:p>
            <a:pPr indent="0" marL="0">
              <a:buNone/>
            </a:pPr>
            <a:r>
              <a:rPr lang="en-US" sz="1700" b="1" dirty="0">
                <a:solidFill>
                  <a:srgbClr val="12344D"/>
                </a:solidFill>
                <a:latin typeface="Cambria" pitchFamily="34" charset="0"/>
                <a:ea typeface="Cambria" pitchFamily="34" charset="-122"/>
                <a:cs typeface="Cambria" pitchFamily="34" charset="-120"/>
              </a:rPr>
              <a:t>Simulate</a:t>
            </a:r>
            <a:endParaRPr lang="en-US" sz="1700" dirty="0"/>
          </a:p>
        </p:txBody>
      </p:sp>
      <p:sp>
        <p:nvSpPr>
          <p:cNvPr id="10" name="Text 8"/>
          <p:cNvSpPr txBox="1"/>
          <p:nvPr/>
        </p:nvSpPr>
        <p:spPr>
          <a:xfrm>
            <a:off x="1188720" y="2898648"/>
            <a:ext cx="5760720" cy="7315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Allowed options run on the patient's personalised twin for the next 5 hours, or as a typical day for a medicine change.</a:t>
            </a:r>
            <a:endParaRPr lang="en-US" sz="1300" dirty="0"/>
          </a:p>
        </p:txBody>
      </p:sp>
      <p:sp>
        <p:nvSpPr>
          <p:cNvPr id="11" name="Shape 9"/>
          <p:cNvSpPr/>
          <p:nvPr/>
        </p:nvSpPr>
        <p:spPr>
          <a:xfrm>
            <a:off x="548640" y="3730752"/>
            <a:ext cx="420624" cy="420624"/>
          </a:xfrm>
          <a:prstGeom prst="ellipse">
            <a:avLst/>
          </a:prstGeom>
          <a:solidFill>
            <a:srgbClr val="E07A2F"/>
          </a:solidFill>
          <a:ln w="12700">
            <a:solidFill>
              <a:srgbClr val="E07A2F"/>
            </a:solidFill>
            <a:prstDash val="solid"/>
          </a:ln>
        </p:spPr>
      </p:sp>
      <p:sp>
        <p:nvSpPr>
          <p:cNvPr id="12" name="Text 10"/>
          <p:cNvSpPr txBox="1"/>
          <p:nvPr/>
        </p:nvSpPr>
        <p:spPr>
          <a:xfrm>
            <a:off x="548640" y="3730752"/>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3" name="Text 11"/>
          <p:cNvSpPr txBox="1"/>
          <p:nvPr/>
        </p:nvSpPr>
        <p:spPr>
          <a:xfrm>
            <a:off x="1188720" y="3703320"/>
            <a:ext cx="5760720" cy="365760"/>
          </a:xfrm>
          <a:prstGeom prst="rect">
            <a:avLst/>
          </a:prstGeom>
          <a:noFill/>
          <a:ln/>
        </p:spPr>
        <p:txBody>
          <a:bodyPr wrap="square" lIns="0" tIns="0" rIns="0" bIns="0" rtlCol="0" anchor="ctr"/>
          <a:lstStyle/>
          <a:p>
            <a:pPr indent="0" marL="0">
              <a:buNone/>
            </a:pPr>
            <a:r>
              <a:rPr lang="en-US" sz="1700" b="1" dirty="0">
                <a:solidFill>
                  <a:srgbClr val="12344D"/>
                </a:solidFill>
                <a:latin typeface="Cambria" pitchFamily="34" charset="0"/>
                <a:ea typeface="Cambria" pitchFamily="34" charset="-122"/>
                <a:cs typeface="Cambria" pitchFamily="34" charset="-120"/>
              </a:rPr>
              <a:t>Flag</a:t>
            </a:r>
            <a:endParaRPr lang="en-US" sz="1700" dirty="0"/>
          </a:p>
        </p:txBody>
      </p:sp>
      <p:sp>
        <p:nvSpPr>
          <p:cNvPr id="14" name="Text 12"/>
          <p:cNvSpPr txBox="1"/>
          <p:nvPr/>
        </p:nvSpPr>
        <p:spPr>
          <a:xfrm>
            <a:off x="1188720" y="4087368"/>
            <a:ext cx="5760720" cy="7315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predicted trough below 70 mg/dL is flagged as hypoglycaemia (below 80: caution), with the patient's risk factors.</a:t>
            </a:r>
            <a:endParaRPr lang="en-US" sz="1300" dirty="0"/>
          </a:p>
        </p:txBody>
      </p:sp>
      <p:sp>
        <p:nvSpPr>
          <p:cNvPr id="15" name="Shape 13"/>
          <p:cNvSpPr/>
          <p:nvPr/>
        </p:nvSpPr>
        <p:spPr>
          <a:xfrm>
            <a:off x="548640" y="4937760"/>
            <a:ext cx="6400800" cy="566928"/>
          </a:xfrm>
          <a:prstGeom prst="roundRect">
            <a:avLst>
              <a:gd name="adj" fmla="val 12903"/>
            </a:avLst>
          </a:prstGeom>
          <a:solidFill>
            <a:srgbClr val="FDECEA"/>
          </a:solidFill>
          <a:ln w="12700">
            <a:solidFill>
              <a:srgbClr val="FDECEA"/>
            </a:solidFill>
            <a:prstDash val="solid"/>
          </a:ln>
        </p:spPr>
      </p:sp>
      <p:sp>
        <p:nvSpPr>
          <p:cNvPr id="16" name="Text 14"/>
          <p:cNvSpPr txBox="1"/>
          <p:nvPr/>
        </p:nvSpPr>
        <p:spPr>
          <a:xfrm>
            <a:off x="731520" y="4937760"/>
            <a:ext cx="6126480" cy="566928"/>
          </a:xfrm>
          <a:prstGeom prst="rect">
            <a:avLst/>
          </a:prstGeom>
          <a:noFill/>
          <a:ln/>
        </p:spPr>
        <p:txBody>
          <a:bodyPr wrap="square" lIns="0" tIns="0" rIns="0" bIns="0" rtlCol="0" anchor="ctr"/>
          <a:lstStyle/>
          <a:p>
            <a:pPr indent="0" marL="0">
              <a:buNone/>
            </a:pPr>
            <a:r>
              <a:rPr lang="en-US" sz="1300" b="1" dirty="0">
                <a:solidFill>
                  <a:srgbClr val="C0392B"/>
                </a:solidFill>
                <a:latin typeface="Calibri" pitchFamily="34" charset="0"/>
                <a:ea typeface="Calibri" pitchFamily="34" charset="-122"/>
                <a:cs typeface="Calibri" pitchFamily="34" charset="-120"/>
              </a:rPr>
              <a:t>⛔  Metformin 1000 → 2000 mg/day: BLOCKED. eGFR 40 (30-44): metformin limited to 1000 mg/day.</a:t>
            </a:r>
            <a:endParaRPr lang="en-US" sz="1300" dirty="0"/>
          </a:p>
        </p:txBody>
      </p:sp>
      <p:sp>
        <p:nvSpPr>
          <p:cNvPr id="17" name="Text 15"/>
          <p:cNvSpPr txBox="1"/>
          <p:nvPr/>
        </p:nvSpPr>
        <p:spPr>
          <a:xfrm>
            <a:off x="548640" y="5623560"/>
            <a:ext cx="6400800" cy="640080"/>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Every result is labelled "Simulation for discussion with the patient, not a prescription". The rules are listed for clinical review (docs/clinical_rules_to_review.md).</a:t>
            </a:r>
            <a:endParaRPr lang="en-US" sz="1200" dirty="0"/>
          </a:p>
        </p:txBody>
      </p:sp>
      <p:pic>
        <p:nvPicPr>
          <p:cNvPr id="18" name="Image 0" descr="Twin's predicted trough vs true trough in a sulfonylurea stress test">    </p:cNvPr>
          <p:cNvPicPr>
            <a:picLocks noChangeAspect="1"/>
          </p:cNvPicPr>
          <p:nvPr/>
        </p:nvPicPr>
        <p:blipFill>
          <a:blip r:embed="rId1"/>
          <a:stretch>
            <a:fillRect/>
          </a:stretch>
        </p:blipFill>
        <p:spPr>
          <a:xfrm>
            <a:off x="7436411" y="1234440"/>
            <a:ext cx="4146698" cy="3566160"/>
          </a:xfrm>
          <a:prstGeom prst="rect">
            <a:avLst/>
          </a:prstGeom>
        </p:spPr>
      </p:pic>
      <p:sp>
        <p:nvSpPr>
          <p:cNvPr id="19" name="Text 16"/>
          <p:cNvSpPr txBox="1"/>
          <p:nvPr/>
        </p:nvSpPr>
        <p:spPr>
          <a:xfrm>
            <a:off x="7360920" y="4937760"/>
            <a:ext cx="4297680" cy="100584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Stress test on 24 sulfonylurea users (maximum dose, breakfast skipped): all 4 true lows were flagged at least "caution", 1 as a predicted low, with no false alarms.</a:t>
            </a:r>
            <a:endParaRPr lang="en-US" sz="1200" dirty="0"/>
          </a:p>
        </p:txBody>
      </p:sp>
      <p:sp>
        <p:nvSpPr>
          <p:cNvPr id="21" name="Text 17"/>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9AA5B1"/>
                </a:solidFill>
                <a:latin typeface="Calibri" pitchFamily="34" charset="0"/>
                <a:ea typeface="Calibri" pitchFamily="34" charset="-122"/>
                <a:cs typeface="Calibri" pitchFamily="34" charset="-120"/>
              </a:rPr>
              <a:t>Team AMRIT_VIT · T2D digital twin · synthetic patients only</a:t>
            </a:r>
            <a:endParaRPr lang="en-US" sz="1000" dirty="0"/>
          </a:p>
        </p:txBody>
      </p:sp>
      <p:sp>
        <p:nvSpPr>
          <p:cNvPr id="22" name="Text 18"/>
          <p:cNvSpPr txBox="1"/>
          <p:nvPr/>
        </p:nvSpPr>
        <p:spPr>
          <a:xfrm>
            <a:off x="10911535" y="6419088"/>
            <a:ext cx="731520" cy="274320"/>
          </a:xfrm>
          <a:prstGeom prst="rect">
            <a:avLst/>
          </a:prstGeom>
          <a:noFill/>
          <a:ln/>
        </p:spPr>
        <p:txBody>
          <a:bodyPr wrap="square" lIns="0" tIns="0" rIns="0" bIns="0" rtlCol="0" anchor="ctr"/>
          <a:lstStyle/>
          <a:p>
            <a:pPr algn="r" indent="0" marL="0">
              <a:buNone/>
            </a:pPr>
            <a:r>
              <a:rPr lang="en-US" sz="1000" dirty="0">
                <a:solidFill>
                  <a:srgbClr val="9AA5B1"/>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lstStyle/>
          <a:p>
            <a:pPr indent="0" marL="0">
              <a:buNone/>
            </a:pPr>
            <a:r>
              <a:rPr lang="en-US" sz="3000" b="1" dirty="0">
                <a:solidFill>
                  <a:srgbClr val="12344D"/>
                </a:solidFill>
                <a:latin typeface="Cambria" pitchFamily="34" charset="0"/>
                <a:ea typeface="Cambria" pitchFamily="34" charset="-122"/>
                <a:cs typeface="Cambria" pitchFamily="34" charset="-120"/>
              </a:rPr>
              <a:t>The doctor's screen: one patient at a glance</a:t>
            </a:r>
            <a:endParaRPr lang="en-US" sz="3000" dirty="0"/>
          </a:p>
        </p:txBody>
      </p:sp>
      <p:pic>
        <p:nvPicPr>
          <p:cNvPr id="3" name="Image 0" descr="Patient tab of the dashboard">    </p:cNvPr>
          <p:cNvPicPr>
            <a:picLocks noChangeAspect="1"/>
          </p:cNvPicPr>
          <p:nvPr/>
        </p:nvPicPr>
        <p:blipFill>
          <a:blip r:embed="rId1"/>
          <a:stretch>
            <a:fillRect/>
          </a:stretch>
        </p:blipFill>
        <p:spPr>
          <a:xfrm>
            <a:off x="548640" y="1188720"/>
            <a:ext cx="7373722" cy="5120640"/>
          </a:xfrm>
          <a:prstGeom prst="rect">
            <a:avLst/>
          </a:prstGeom>
        </p:spPr>
      </p:pic>
      <p:sp>
        <p:nvSpPr>
          <p:cNvPr id="4" name="Shape 1"/>
          <p:cNvSpPr/>
          <p:nvPr/>
        </p:nvSpPr>
        <p:spPr>
          <a:xfrm>
            <a:off x="8196682" y="1252728"/>
            <a:ext cx="365760" cy="365760"/>
          </a:xfrm>
          <a:prstGeom prst="ellipse">
            <a:avLst/>
          </a:prstGeom>
          <a:solidFill>
            <a:srgbClr val="E07A2F"/>
          </a:solidFill>
          <a:ln w="12700">
            <a:solidFill>
              <a:srgbClr val="E07A2F"/>
            </a:solidFill>
            <a:prstDash val="solid"/>
          </a:ln>
        </p:spPr>
      </p:sp>
      <p:sp>
        <p:nvSpPr>
          <p:cNvPr id="5" name="Text 2"/>
          <p:cNvSpPr txBox="1"/>
          <p:nvPr/>
        </p:nvSpPr>
        <p:spPr>
          <a:xfrm>
            <a:off x="8196682" y="12527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3"/>
          <p:cNvSpPr txBox="1"/>
          <p:nvPr/>
        </p:nvSpPr>
        <p:spPr>
          <a:xfrm>
            <a:off x="8699602" y="1234440"/>
            <a:ext cx="2943454" cy="320040"/>
          </a:xfrm>
          <a:prstGeom prst="rect">
            <a:avLst/>
          </a:prstGeom>
          <a:noFill/>
          <a:ln/>
        </p:spPr>
        <p:txBody>
          <a:bodyPr wrap="square" lIns="0" tIns="0" rIns="0" bIns="0" rtlCol="0" anchor="ctr"/>
          <a:lstStyle/>
          <a:p>
            <a:pPr indent="0" marL="0">
              <a:buNone/>
            </a:pPr>
            <a:r>
              <a:rPr lang="en-US" sz="1400" b="1" dirty="0">
                <a:solidFill>
                  <a:srgbClr val="12344D"/>
                </a:solidFill>
                <a:latin typeface="Calibri" pitchFamily="34" charset="0"/>
                <a:ea typeface="Calibri" pitchFamily="34" charset="-122"/>
                <a:cs typeface="Calibri" pitchFamily="34" charset="-120"/>
              </a:rPr>
              <a:t>Alert chip and one sentence</a:t>
            </a:r>
            <a:endParaRPr lang="en-US" sz="1400" dirty="0"/>
          </a:p>
        </p:txBody>
      </p:sp>
      <p:sp>
        <p:nvSpPr>
          <p:cNvPr id="7" name="Text 4"/>
          <p:cNvSpPr txBox="1"/>
          <p:nvPr/>
        </p:nvSpPr>
        <p:spPr>
          <a:xfrm>
            <a:off x="8699602" y="1554480"/>
            <a:ext cx="2943454" cy="64008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"Spike likely (90 %): above 180 in about 50 min, peak about 214 mg/dL (80 % range 193-263)."</a:t>
            </a:r>
            <a:endParaRPr lang="en-US" sz="1200" dirty="0"/>
          </a:p>
        </p:txBody>
      </p:sp>
      <p:sp>
        <p:nvSpPr>
          <p:cNvPr id="8" name="Shape 5"/>
          <p:cNvSpPr/>
          <p:nvPr/>
        </p:nvSpPr>
        <p:spPr>
          <a:xfrm>
            <a:off x="8196682" y="2258568"/>
            <a:ext cx="365760" cy="365760"/>
          </a:xfrm>
          <a:prstGeom prst="ellipse">
            <a:avLst/>
          </a:prstGeom>
          <a:solidFill>
            <a:srgbClr val="E07A2F"/>
          </a:solidFill>
          <a:ln w="12700">
            <a:solidFill>
              <a:srgbClr val="E07A2F"/>
            </a:solidFill>
            <a:prstDash val="solid"/>
          </a:ln>
        </p:spPr>
      </p:sp>
      <p:sp>
        <p:nvSpPr>
          <p:cNvPr id="9" name="Text 6"/>
          <p:cNvSpPr txBox="1"/>
          <p:nvPr/>
        </p:nvSpPr>
        <p:spPr>
          <a:xfrm>
            <a:off x="8196682" y="225856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Text 7"/>
          <p:cNvSpPr txBox="1"/>
          <p:nvPr/>
        </p:nvSpPr>
        <p:spPr>
          <a:xfrm>
            <a:off x="8699602" y="2240280"/>
            <a:ext cx="2943454" cy="320040"/>
          </a:xfrm>
          <a:prstGeom prst="rect">
            <a:avLst/>
          </a:prstGeom>
          <a:noFill/>
          <a:ln/>
        </p:spPr>
        <p:txBody>
          <a:bodyPr wrap="square" lIns="0" tIns="0" rIns="0" bIns="0" rtlCol="0" anchor="ctr"/>
          <a:lstStyle/>
          <a:p>
            <a:pPr indent="0" marL="0">
              <a:buNone/>
            </a:pPr>
            <a:r>
              <a:rPr lang="en-US" sz="1400" b="1" dirty="0">
                <a:solidFill>
                  <a:srgbClr val="12344D"/>
                </a:solidFill>
                <a:latin typeface="Calibri" pitchFamily="34" charset="0"/>
                <a:ea typeface="Calibri" pitchFamily="34" charset="-122"/>
                <a:cs typeface="Calibri" pitchFamily="34" charset="-120"/>
              </a:rPr>
              <a:t>24 h CGM + 2 h forecast</a:t>
            </a:r>
            <a:endParaRPr lang="en-US" sz="1400" dirty="0"/>
          </a:p>
        </p:txBody>
      </p:sp>
      <p:sp>
        <p:nvSpPr>
          <p:cNvPr id="11" name="Text 8"/>
          <p:cNvSpPr txBox="1"/>
          <p:nvPr/>
        </p:nvSpPr>
        <p:spPr>
          <a:xfrm>
            <a:off x="8699602" y="2560320"/>
            <a:ext cx="2943454" cy="64008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Target range, spike line, logged meals and the 80 % band.</a:t>
            </a:r>
            <a:endParaRPr lang="en-US" sz="1200" dirty="0"/>
          </a:p>
        </p:txBody>
      </p:sp>
      <p:sp>
        <p:nvSpPr>
          <p:cNvPr id="12" name="Shape 9"/>
          <p:cNvSpPr/>
          <p:nvPr/>
        </p:nvSpPr>
        <p:spPr>
          <a:xfrm>
            <a:off x="8196682" y="3264408"/>
            <a:ext cx="365760" cy="365760"/>
          </a:xfrm>
          <a:prstGeom prst="ellipse">
            <a:avLst/>
          </a:prstGeom>
          <a:solidFill>
            <a:srgbClr val="E07A2F"/>
          </a:solidFill>
          <a:ln w="12700">
            <a:solidFill>
              <a:srgbClr val="E07A2F"/>
            </a:solidFill>
            <a:prstDash val="solid"/>
          </a:ln>
        </p:spPr>
      </p:sp>
      <p:sp>
        <p:nvSpPr>
          <p:cNvPr id="13" name="Text 10"/>
          <p:cNvSpPr txBox="1"/>
          <p:nvPr/>
        </p:nvSpPr>
        <p:spPr>
          <a:xfrm>
            <a:off x="8196682" y="326440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1"/>
          <p:cNvSpPr txBox="1"/>
          <p:nvPr/>
        </p:nvSpPr>
        <p:spPr>
          <a:xfrm>
            <a:off x="8699602" y="3246120"/>
            <a:ext cx="2943454" cy="320040"/>
          </a:xfrm>
          <a:prstGeom prst="rect">
            <a:avLst/>
          </a:prstGeom>
          <a:noFill/>
          <a:ln/>
        </p:spPr>
        <p:txBody>
          <a:bodyPr wrap="square" lIns="0" tIns="0" rIns="0" bIns="0" rtlCol="0" anchor="ctr"/>
          <a:lstStyle/>
          <a:p>
            <a:pPr indent="0" marL="0">
              <a:buNone/>
            </a:pPr>
            <a:r>
              <a:rPr lang="en-US" sz="1400" b="1" dirty="0">
                <a:solidFill>
                  <a:srgbClr val="12344D"/>
                </a:solidFill>
                <a:latin typeface="Calibri" pitchFamily="34" charset="0"/>
                <a:ea typeface="Calibri" pitchFamily="34" charset="-122"/>
                <a:cs typeface="Calibri" pitchFamily="34" charset="-120"/>
              </a:rPr>
              <a:t>Wearables on the same time axis</a:t>
            </a:r>
            <a:endParaRPr lang="en-US" sz="1400" dirty="0"/>
          </a:p>
        </p:txBody>
      </p:sp>
      <p:sp>
        <p:nvSpPr>
          <p:cNvPr id="15" name="Text 12"/>
          <p:cNvSpPr txBox="1"/>
          <p:nvPr/>
        </p:nvSpPr>
        <p:spPr>
          <a:xfrm>
            <a:off x="8699602" y="3566160"/>
            <a:ext cx="2943454" cy="64008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Steps, heart rate, sleep stages and HRV.</a:t>
            </a:r>
            <a:endParaRPr lang="en-US" sz="1200" dirty="0"/>
          </a:p>
        </p:txBody>
      </p:sp>
      <p:sp>
        <p:nvSpPr>
          <p:cNvPr id="16" name="Shape 13"/>
          <p:cNvSpPr/>
          <p:nvPr/>
        </p:nvSpPr>
        <p:spPr>
          <a:xfrm>
            <a:off x="8196682" y="4270248"/>
            <a:ext cx="365760" cy="365760"/>
          </a:xfrm>
          <a:prstGeom prst="ellipse">
            <a:avLst/>
          </a:prstGeom>
          <a:solidFill>
            <a:srgbClr val="E07A2F"/>
          </a:solidFill>
          <a:ln w="12700">
            <a:solidFill>
              <a:srgbClr val="E07A2F"/>
            </a:solidFill>
            <a:prstDash val="solid"/>
          </a:ln>
        </p:spPr>
      </p:sp>
      <p:sp>
        <p:nvSpPr>
          <p:cNvPr id="17" name="Text 14"/>
          <p:cNvSpPr txBox="1"/>
          <p:nvPr/>
        </p:nvSpPr>
        <p:spPr>
          <a:xfrm>
            <a:off x="8196682" y="427024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8" name="Text 15"/>
          <p:cNvSpPr txBox="1"/>
          <p:nvPr/>
        </p:nvSpPr>
        <p:spPr>
          <a:xfrm>
            <a:off x="8699602" y="4251960"/>
            <a:ext cx="2943454" cy="320040"/>
          </a:xfrm>
          <a:prstGeom prst="rect">
            <a:avLst/>
          </a:prstGeom>
          <a:noFill/>
          <a:ln/>
        </p:spPr>
        <p:txBody>
          <a:bodyPr wrap="square" lIns="0" tIns="0" rIns="0" bIns="0" rtlCol="0" anchor="ctr"/>
          <a:lstStyle/>
          <a:p>
            <a:pPr indent="0" marL="0">
              <a:buNone/>
            </a:pPr>
            <a:r>
              <a:rPr lang="en-US" sz="1400" b="1" dirty="0">
                <a:solidFill>
                  <a:srgbClr val="12344D"/>
                </a:solidFill>
                <a:latin typeface="Calibri" pitchFamily="34" charset="0"/>
                <a:ea typeface="Calibri" pitchFamily="34" charset="-122"/>
                <a:cs typeface="Calibri" pitchFamily="34" charset="-120"/>
              </a:rPr>
              <a:t>Record card</a:t>
            </a:r>
            <a:endParaRPr lang="en-US" sz="1400" dirty="0"/>
          </a:p>
        </p:txBody>
      </p:sp>
      <p:sp>
        <p:nvSpPr>
          <p:cNvPr id="19" name="Text 16"/>
          <p:cNvSpPr txBox="1"/>
          <p:nvPr/>
        </p:nvSpPr>
        <p:spPr>
          <a:xfrm>
            <a:off x="8699602" y="4572000"/>
            <a:ext cx="2943454" cy="64008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HbA1c trend, eGFR, medicines, allergy badges; the twin's state below.</a:t>
            </a:r>
            <a:endParaRPr lang="en-US" sz="1200" dirty="0"/>
          </a:p>
        </p:txBody>
      </p:sp>
      <p:sp>
        <p:nvSpPr>
          <p:cNvPr id="20" name="Shape 17"/>
          <p:cNvSpPr/>
          <p:nvPr/>
        </p:nvSpPr>
        <p:spPr>
          <a:xfrm>
            <a:off x="8196682" y="5276088"/>
            <a:ext cx="365760" cy="365760"/>
          </a:xfrm>
          <a:prstGeom prst="ellipse">
            <a:avLst/>
          </a:prstGeom>
          <a:solidFill>
            <a:srgbClr val="E07A2F"/>
          </a:solidFill>
          <a:ln w="12700">
            <a:solidFill>
              <a:srgbClr val="E07A2F"/>
            </a:solidFill>
            <a:prstDash val="solid"/>
          </a:ln>
        </p:spPr>
      </p:sp>
      <p:sp>
        <p:nvSpPr>
          <p:cNvPr id="21" name="Text 18"/>
          <p:cNvSpPr txBox="1"/>
          <p:nvPr/>
        </p:nvSpPr>
        <p:spPr>
          <a:xfrm>
            <a:off x="8196682" y="527608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2" name="Text 19"/>
          <p:cNvSpPr txBox="1"/>
          <p:nvPr/>
        </p:nvSpPr>
        <p:spPr>
          <a:xfrm>
            <a:off x="8699602" y="5257800"/>
            <a:ext cx="2943454" cy="320040"/>
          </a:xfrm>
          <a:prstGeom prst="rect">
            <a:avLst/>
          </a:prstGeom>
          <a:noFill/>
          <a:ln/>
        </p:spPr>
        <p:txBody>
          <a:bodyPr wrap="square" lIns="0" tIns="0" rIns="0" bIns="0" rtlCol="0" anchor="ctr"/>
          <a:lstStyle/>
          <a:p>
            <a:pPr indent="0" marL="0">
              <a:buNone/>
            </a:pPr>
            <a:r>
              <a:rPr lang="en-US" sz="1400" b="1" dirty="0">
                <a:solidFill>
                  <a:srgbClr val="12344D"/>
                </a:solidFill>
                <a:latin typeface="Calibri" pitchFamily="34" charset="0"/>
                <a:ea typeface="Calibri" pitchFamily="34" charset="-122"/>
                <a:cs typeface="Calibri" pitchFamily="34" charset="-120"/>
              </a:rPr>
              <a:t>Sensitivity slider and replay</a:t>
            </a:r>
            <a:endParaRPr lang="en-US" sz="1400" dirty="0"/>
          </a:p>
        </p:txBody>
      </p:sp>
      <p:sp>
        <p:nvSpPr>
          <p:cNvPr id="23" name="Text 20"/>
          <p:cNvSpPr txBox="1"/>
          <p:nvPr/>
        </p:nvSpPr>
        <p:spPr>
          <a:xfrm>
            <a:off x="8699602" y="5577840"/>
            <a:ext cx="2943454" cy="64008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Replay steps the twin forward; "show what actually happened" for the demo.</a:t>
            </a:r>
            <a:endParaRPr lang="en-US" sz="1200" dirty="0"/>
          </a:p>
        </p:txBody>
      </p:sp>
      <p:sp>
        <p:nvSpPr>
          <p:cNvPr id="25" name="Text 21"/>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9AA5B1"/>
                </a:solidFill>
                <a:latin typeface="Calibri" pitchFamily="34" charset="0"/>
                <a:ea typeface="Calibri" pitchFamily="34" charset="-122"/>
                <a:cs typeface="Calibri" pitchFamily="34" charset="-120"/>
              </a:rPr>
              <a:t>Team AMRIT_VIT · T2D digital twin · synthetic patients only</a:t>
            </a:r>
            <a:endParaRPr lang="en-US" sz="1000" dirty="0"/>
          </a:p>
        </p:txBody>
      </p:sp>
      <p:sp>
        <p:nvSpPr>
          <p:cNvPr id="26" name="Text 22"/>
          <p:cNvSpPr txBox="1"/>
          <p:nvPr/>
        </p:nvSpPr>
        <p:spPr>
          <a:xfrm>
            <a:off x="10911535" y="6419088"/>
            <a:ext cx="731520" cy="274320"/>
          </a:xfrm>
          <a:prstGeom prst="rect">
            <a:avLst/>
          </a:prstGeom>
          <a:noFill/>
          <a:ln/>
        </p:spPr>
        <p:txBody>
          <a:bodyPr wrap="square" lIns="0" tIns="0" rIns="0" bIns="0" rtlCol="0" anchor="ctr"/>
          <a:lstStyle/>
          <a:p>
            <a:pPr algn="r" indent="0" marL="0">
              <a:buNone/>
            </a:pPr>
            <a:r>
              <a:rPr lang="en-US" sz="1000" dirty="0">
                <a:solidFill>
                  <a:srgbClr val="9AA5B1"/>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lstStyle/>
          <a:p>
            <a:pPr indent="0" marL="0">
              <a:buNone/>
            </a:pPr>
            <a:r>
              <a:rPr lang="en-US" sz="3000" b="1" dirty="0">
                <a:solidFill>
                  <a:srgbClr val="12344D"/>
                </a:solidFill>
                <a:latin typeface="Cambria" pitchFamily="34" charset="0"/>
                <a:ea typeface="Cambria" pitchFamily="34" charset="-122"/>
                <a:cs typeface="Cambria" pitchFamily="34" charset="-120"/>
              </a:rPr>
              <a:t>What-if on the twin, and triage across patients</a:t>
            </a:r>
            <a:endParaRPr lang="en-US" sz="3000" dirty="0"/>
          </a:p>
        </p:txBody>
      </p:sp>
      <p:pic>
        <p:nvPicPr>
          <p:cNvPr id="3" name="Image 0" descr="What-if tab: a dish swap simulated on the twin">    </p:cNvPr>
          <p:cNvPicPr>
            <a:picLocks noChangeAspect="1"/>
          </p:cNvPicPr>
          <p:nvPr/>
        </p:nvPicPr>
        <p:blipFill>
          <a:blip r:embed="rId1"/>
          <a:stretch>
            <a:fillRect/>
          </a:stretch>
        </p:blipFill>
        <p:spPr>
          <a:xfrm>
            <a:off x="548640" y="1188720"/>
            <a:ext cx="3901564" cy="4572000"/>
          </a:xfrm>
          <a:prstGeom prst="rect">
            <a:avLst/>
          </a:prstGeom>
        </p:spPr>
      </p:pic>
      <p:pic>
        <p:nvPicPr>
          <p:cNvPr id="4" name="Image 1" descr="Triage tab: patients ranked by predicted risk">    </p:cNvPr>
          <p:cNvPicPr>
            <a:picLocks noChangeAspect="1"/>
          </p:cNvPicPr>
          <p:nvPr/>
        </p:nvPicPr>
        <p:blipFill>
          <a:blip r:embed="rId2"/>
          <a:stretch>
            <a:fillRect/>
          </a:stretch>
        </p:blipFill>
        <p:spPr>
          <a:xfrm>
            <a:off x="4861684" y="1188720"/>
            <a:ext cx="5687122" cy="4572000"/>
          </a:xfrm>
          <a:prstGeom prst="rect">
            <a:avLst/>
          </a:prstGeom>
        </p:spPr>
      </p:pic>
      <p:sp>
        <p:nvSpPr>
          <p:cNvPr id="5" name="Text 1"/>
          <p:cNvSpPr txBox="1"/>
          <p:nvPr/>
        </p:nvSpPr>
        <p:spPr>
          <a:xfrm>
            <a:off x="548640" y="5897880"/>
            <a:ext cx="3901564" cy="685800"/>
          </a:xfrm>
          <a:prstGeom prst="rect">
            <a:avLst/>
          </a:prstGeom>
          <a:noFill/>
          <a:ln/>
        </p:spPr>
        <p:txBody>
          <a:bodyPr wrap="square" lIns="0" tIns="0" rIns="0" bIns="0" rtlCol="0" anchor="t"/>
          <a:lstStyle/>
          <a:p>
            <a:pPr indent="0" marL="0">
              <a:buNone/>
            </a:pPr>
            <a:r>
              <a:rPr lang="en-US" sz="1200" b="1" dirty="0">
                <a:solidFill>
                  <a:srgbClr val="12344D"/>
                </a:solidFill>
                <a:latin typeface="Calibri" pitchFamily="34" charset="0"/>
                <a:ea typeface="Calibri" pitchFamily="34" charset="-122"/>
                <a:cs typeface="Calibri" pitchFamily="34" charset="-120"/>
              </a:rPr>
              <a:t>What-if: </a:t>
            </a:r>
            <a:pPr indent="0" marL="0">
              <a:buNone/>
            </a:pPr>
            <a:r>
              <a:rPr lang="en-US" sz="1200" dirty="0">
                <a:solidFill>
                  <a:srgbClr val="1F2933"/>
                </a:solidFill>
                <a:latin typeface="Calibri" pitchFamily="34" charset="0"/>
                <a:ea typeface="Calibri" pitchFamily="34" charset="-122"/>
                <a:cs typeface="Calibri" pitchFamily="34" charset="-120"/>
              </a:rPr>
              <a:t>patient factors as chips, the current plan vs the change, and the hypoglycaemia check.</a:t>
            </a:r>
            <a:endParaRPr lang="en-US" sz="1200" dirty="0"/>
          </a:p>
        </p:txBody>
      </p:sp>
      <p:sp>
        <p:nvSpPr>
          <p:cNvPr id="6" name="Text 2"/>
          <p:cNvSpPr txBox="1"/>
          <p:nvPr/>
        </p:nvSpPr>
        <p:spPr>
          <a:xfrm>
            <a:off x="4861684" y="5897880"/>
            <a:ext cx="5687122" cy="685800"/>
          </a:xfrm>
          <a:prstGeom prst="rect">
            <a:avLst/>
          </a:prstGeom>
          <a:noFill/>
          <a:ln/>
        </p:spPr>
        <p:txBody>
          <a:bodyPr wrap="square" lIns="0" tIns="0" rIns="0" bIns="0" rtlCol="0" anchor="t"/>
          <a:lstStyle/>
          <a:p>
            <a:pPr indent="0" marL="0">
              <a:buNone/>
            </a:pPr>
            <a:r>
              <a:rPr lang="en-US" sz="1200" b="1" dirty="0">
                <a:solidFill>
                  <a:srgbClr val="12344D"/>
                </a:solidFill>
                <a:latin typeface="Calibri" pitchFamily="34" charset="0"/>
                <a:ea typeface="Calibri" pitchFamily="34" charset="-122"/>
                <a:cs typeface="Calibri" pitchFamily="34" charset="-120"/>
              </a:rPr>
              <a:t>Triage: </a:t>
            </a:r>
            <a:pPr indent="0" marL="0">
              <a:buNone/>
            </a:pPr>
            <a:r>
              <a:rPr lang="en-US" sz="1200" dirty="0">
                <a:solidFill>
                  <a:srgbClr val="1F2933"/>
                </a:solidFill>
                <a:latin typeface="Calibri" pitchFamily="34" charset="0"/>
                <a:ea typeface="Calibri" pitchFamily="34" charset="-122"/>
                <a:cs typeface="Calibri" pitchFamily="34" charset="-120"/>
              </a:rPr>
              <a:t>every patient at one clinic time, predicted lows first, then the highest 2-hour peak, with a one-line reason and data quality.</a:t>
            </a:r>
            <a:endParaRPr lang="en-US" sz="1200" dirty="0"/>
          </a:p>
        </p:txBody>
      </p:sp>
      <p:sp>
        <p:nvSpPr>
          <p:cNvPr id="8" name="Text 3"/>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9AA5B1"/>
                </a:solidFill>
                <a:latin typeface="Calibri" pitchFamily="34" charset="0"/>
                <a:ea typeface="Calibri" pitchFamily="34" charset="-122"/>
                <a:cs typeface="Calibri" pitchFamily="34" charset="-120"/>
              </a:rPr>
              <a:t>Team AMRIT_VIT · T2D digital twin · synthetic patients only</a:t>
            </a:r>
            <a:endParaRPr lang="en-US" sz="1000" dirty="0"/>
          </a:p>
        </p:txBody>
      </p:sp>
      <p:sp>
        <p:nvSpPr>
          <p:cNvPr id="9" name="Text 4"/>
          <p:cNvSpPr txBox="1"/>
          <p:nvPr/>
        </p:nvSpPr>
        <p:spPr>
          <a:xfrm>
            <a:off x="10911535" y="6419088"/>
            <a:ext cx="731520" cy="274320"/>
          </a:xfrm>
          <a:prstGeom prst="rect">
            <a:avLst/>
          </a:prstGeom>
          <a:noFill/>
          <a:ln/>
        </p:spPr>
        <p:txBody>
          <a:bodyPr wrap="square" lIns="0" tIns="0" rIns="0" bIns="0" rtlCol="0" anchor="ctr"/>
          <a:lstStyle/>
          <a:p>
            <a:pPr algn="r" indent="0" marL="0">
              <a:buNone/>
            </a:pPr>
            <a:r>
              <a:rPr lang="en-US" sz="1000" dirty="0">
                <a:solidFill>
                  <a:srgbClr val="9AA5B1"/>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47472"/>
            <a:ext cx="11094415" cy="777240"/>
          </a:xfrm>
          <a:prstGeom prst="rect">
            <a:avLst/>
          </a:prstGeom>
          <a:noFill/>
          <a:ln/>
        </p:spPr>
        <p:txBody>
          <a:bodyPr wrap="square" lIns="0" tIns="0" rIns="0" bIns="0" rtlCol="0" anchor="ctr"/>
          <a:lstStyle/>
          <a:p>
            <a:pPr indent="0" marL="0">
              <a:buNone/>
            </a:pPr>
            <a:r>
              <a:rPr lang="en-US" sz="3000" b="1" dirty="0">
                <a:solidFill>
                  <a:srgbClr val="12344D"/>
                </a:solidFill>
                <a:latin typeface="Cambria" pitchFamily="34" charset="0"/>
                <a:ea typeface="Cambria" pitchFamily="34" charset="-122"/>
                <a:cs typeface="Cambria" pitchFamily="34" charset="-120"/>
              </a:rPr>
              <a:t>Responsible data use and honest limitations</a:t>
            </a:r>
            <a:endParaRPr lang="en-US" sz="3000" dirty="0"/>
          </a:p>
        </p:txBody>
      </p:sp>
      <p:sp>
        <p:nvSpPr>
          <p:cNvPr id="3" name="Shape 1"/>
          <p:cNvSpPr/>
          <p:nvPr/>
        </p:nvSpPr>
        <p:spPr>
          <a:xfrm>
            <a:off x="548640" y="1280160"/>
            <a:ext cx="5318608" cy="4343400"/>
          </a:xfrm>
          <a:prstGeom prst="roundRect">
            <a:avLst>
              <a:gd name="adj" fmla="val 1684"/>
            </a:avLst>
          </a:prstGeom>
          <a:solidFill>
            <a:srgbClr val="F2F5F9"/>
          </a:solidFill>
          <a:ln w="12700">
            <a:solidFill>
              <a:srgbClr val="F2F5F9"/>
            </a:solidFill>
            <a:prstDash val="solid"/>
          </a:ln>
        </p:spPr>
      </p:sp>
      <p:sp>
        <p:nvSpPr>
          <p:cNvPr id="4" name="Text 2"/>
          <p:cNvSpPr txBox="1"/>
          <p:nvPr/>
        </p:nvSpPr>
        <p:spPr>
          <a:xfrm>
            <a:off x="822960" y="1417320"/>
            <a:ext cx="4769968" cy="411480"/>
          </a:xfrm>
          <a:prstGeom prst="rect">
            <a:avLst/>
          </a:prstGeom>
          <a:noFill/>
          <a:ln/>
        </p:spPr>
        <p:txBody>
          <a:bodyPr wrap="square" lIns="0" tIns="0" rIns="0" bIns="0" rtlCol="0" anchor="ctr"/>
          <a:lstStyle/>
          <a:p>
            <a:pPr indent="0" marL="0">
              <a:buNone/>
            </a:pPr>
            <a:r>
              <a:rPr lang="en-US" sz="1800" b="1" dirty="0">
                <a:solidFill>
                  <a:srgbClr val="1E8449"/>
                </a:solidFill>
                <a:latin typeface="Cambria" pitchFamily="34" charset="0"/>
                <a:ea typeface="Cambria" pitchFamily="34" charset="-122"/>
                <a:cs typeface="Cambria" pitchFamily="34" charset="-120"/>
              </a:rPr>
              <a:t>Responsible data (DPDP-aware)</a:t>
            </a:r>
            <a:endParaRPr lang="en-US" sz="1800" dirty="0"/>
          </a:p>
        </p:txBody>
      </p:sp>
      <p:sp>
        <p:nvSpPr>
          <p:cNvPr id="5" name="Text 3"/>
          <p:cNvSpPr txBox="1"/>
          <p:nvPr/>
        </p:nvSpPr>
        <p:spPr>
          <a:xfrm>
            <a:off x="822960" y="1965960"/>
            <a:ext cx="4769968" cy="3566160"/>
          </a:xfrm>
          <a:prstGeom prst="rect">
            <a:avLst/>
          </a:prstGeom>
          <a:noFill/>
          <a:ln/>
        </p:spPr>
        <p:txBody>
          <a:bodyPr wrap="square" lIns="0" tIns="0" rIns="0" bIns="0" rtlCol="0" anchor="t"/>
          <a:lstStyle/>
          <a:p>
            <a:pPr marL="203200" indent="-203200">
              <a:spcAft>
                <a:spcPts val="900"/>
              </a:spcAft>
              <a:buSzPct val="100000"/>
              <a:buChar char="•"/>
            </a:pPr>
            <a:r>
              <a:rPr lang="en-US" sz="1400" dirty="0">
                <a:solidFill>
                  <a:srgbClr val="1F2933"/>
                </a:solidFill>
                <a:latin typeface="Calibri" pitchFamily="34" charset="0"/>
                <a:ea typeface="Calibri" pitchFamily="34" charset="-122"/>
                <a:cs typeface="Calibri" pitchFamily="34" charset="-120"/>
              </a:rPr>
              <a:t>No personal data anywhere: every patient is simulated.</a:t>
            </a:r>
            <a:endParaRPr lang="en-US" sz="1400" dirty="0"/>
          </a:p>
          <a:p>
            <a:pPr marL="203200" indent="-203200">
              <a:spcAft>
                <a:spcPts val="900"/>
              </a:spcAft>
              <a:buSzPct val="100000"/>
              <a:buChar char="•"/>
            </a:pPr>
            <a:r>
              <a:rPr lang="en-US" sz="1400" dirty="0">
                <a:solidFill>
                  <a:srgbClr val="1F2933"/>
                </a:solidFill>
                <a:latin typeface="Calibri" pitchFamily="34" charset="0"/>
                <a:ea typeface="Calibri" pitchFamily="34" charset="-122"/>
                <a:cs typeface="Calibri" pitchFamily="34" charset="-120"/>
              </a:rPr>
              <a:t>Real open datasets are downloaded by script, never committed, and used only to calibrate and validate (licences respected; CGMacros is non-commercial).</a:t>
            </a:r>
            <a:endParaRPr lang="en-US" sz="1400" dirty="0"/>
          </a:p>
          <a:p>
            <a:pPr marL="203200" indent="-203200">
              <a:spcAft>
                <a:spcPts val="900"/>
              </a:spcAft>
              <a:buSzPct val="100000"/>
              <a:buChar char="•"/>
            </a:pPr>
            <a:r>
              <a:rPr lang="en-US" sz="1400" dirty="0">
                <a:solidFill>
                  <a:srgbClr val="1F2933"/>
                </a:solidFill>
                <a:latin typeface="Calibri" pitchFamily="34" charset="0"/>
                <a:ea typeface="Calibri" pitchFamily="34" charset="-122"/>
                <a:cs typeface="Calibri" pitchFamily="34" charset="-120"/>
              </a:rPr>
              <a:t>Hidden simulator truth is stored apart; tests check nothing hidden leaks into model inputs.</a:t>
            </a:r>
            <a:endParaRPr lang="en-US" sz="1400" dirty="0"/>
          </a:p>
          <a:p>
            <a:pPr marL="203200" indent="-203200">
              <a:spcAft>
                <a:spcPts val="900"/>
              </a:spcAft>
              <a:buSzPct val="100000"/>
              <a:buChar char="•"/>
            </a:pPr>
            <a:r>
              <a:rPr lang="en-US" sz="1400" dirty="0">
                <a:solidFill>
                  <a:srgbClr val="1F2933"/>
                </a:solidFill>
                <a:latin typeface="Calibri" pitchFamily="34" charset="0"/>
                <a:ea typeface="Calibri" pitchFamily="34" charset="-122"/>
                <a:cs typeface="Calibri" pitchFamily="34" charset="-120"/>
              </a:rPr>
              <a:t>Every literature value carries a source and a "verified" flag (43 still to verify).</a:t>
            </a:r>
            <a:endParaRPr lang="en-US" sz="1400" dirty="0"/>
          </a:p>
          <a:p>
            <a:pPr marL="203200" indent="-203200">
              <a:spcAft>
                <a:spcPts val="900"/>
              </a:spcAft>
              <a:buSzPct val="100000"/>
              <a:buChar char="•"/>
            </a:pPr>
            <a:r>
              <a:rPr lang="en-US" sz="1400" dirty="0">
                <a:solidFill>
                  <a:srgbClr val="1F2933"/>
                </a:solidFill>
                <a:latin typeface="Calibri" pitchFamily="34" charset="0"/>
                <a:ea typeface="Calibri" pitchFamily="34" charset="-122"/>
                <a:cs typeface="Calibri" pitchFamily="34" charset="-120"/>
              </a:rPr>
              <a:t>"Synthetic patient. Decision support only." on every screen. No genetic markers, by design.</a:t>
            </a:r>
            <a:endParaRPr lang="en-US" sz="1400" dirty="0"/>
          </a:p>
        </p:txBody>
      </p:sp>
      <p:sp>
        <p:nvSpPr>
          <p:cNvPr id="6" name="Shape 4"/>
          <p:cNvSpPr/>
          <p:nvPr/>
        </p:nvSpPr>
        <p:spPr>
          <a:xfrm>
            <a:off x="6324448" y="1280160"/>
            <a:ext cx="5318608" cy="4343400"/>
          </a:xfrm>
          <a:prstGeom prst="roundRect">
            <a:avLst>
              <a:gd name="adj" fmla="val 1684"/>
            </a:avLst>
          </a:prstGeom>
          <a:solidFill>
            <a:srgbClr val="F2F5F9"/>
          </a:solidFill>
          <a:ln w="12700">
            <a:solidFill>
              <a:srgbClr val="F2F5F9"/>
            </a:solidFill>
            <a:prstDash val="solid"/>
          </a:ln>
        </p:spPr>
      </p:sp>
      <p:sp>
        <p:nvSpPr>
          <p:cNvPr id="7" name="Text 5"/>
          <p:cNvSpPr txBox="1"/>
          <p:nvPr/>
        </p:nvSpPr>
        <p:spPr>
          <a:xfrm>
            <a:off x="6598768" y="1417320"/>
            <a:ext cx="4769968" cy="411480"/>
          </a:xfrm>
          <a:prstGeom prst="rect">
            <a:avLst/>
          </a:prstGeom>
          <a:noFill/>
          <a:ln/>
        </p:spPr>
        <p:txBody>
          <a:bodyPr wrap="square" lIns="0" tIns="0" rIns="0" bIns="0" rtlCol="0" anchor="ctr"/>
          <a:lstStyle/>
          <a:p>
            <a:pPr indent="0" marL="0">
              <a:buNone/>
            </a:pPr>
            <a:r>
              <a:rPr lang="en-US" sz="1800" b="1" dirty="0">
                <a:solidFill>
                  <a:srgbClr val="C0392B"/>
                </a:solidFill>
                <a:latin typeface="Cambria" pitchFamily="34" charset="0"/>
                <a:ea typeface="Cambria" pitchFamily="34" charset="-122"/>
                <a:cs typeface="Cambria" pitchFamily="34" charset="-120"/>
              </a:rPr>
              <a:t>Limitations</a:t>
            </a:r>
            <a:endParaRPr lang="en-US" sz="1800" dirty="0"/>
          </a:p>
        </p:txBody>
      </p:sp>
      <p:sp>
        <p:nvSpPr>
          <p:cNvPr id="8" name="Text 6"/>
          <p:cNvSpPr txBox="1"/>
          <p:nvPr/>
        </p:nvSpPr>
        <p:spPr>
          <a:xfrm>
            <a:off x="6598768" y="1965960"/>
            <a:ext cx="4769968" cy="3566160"/>
          </a:xfrm>
          <a:prstGeom prst="rect">
            <a:avLst/>
          </a:prstGeom>
          <a:noFill/>
          <a:ln/>
        </p:spPr>
        <p:txBody>
          <a:bodyPr wrap="square" lIns="0" tIns="0" rIns="0" bIns="0" rtlCol="0" anchor="t"/>
          <a:lstStyle/>
          <a:p>
            <a:pPr marL="203200" indent="-203200">
              <a:spcAft>
                <a:spcPts val="900"/>
              </a:spcAft>
              <a:buSzPct val="100000"/>
              <a:buChar char="•"/>
            </a:pPr>
            <a:r>
              <a:rPr lang="en-US" sz="1400" dirty="0">
                <a:solidFill>
                  <a:srgbClr val="1F2933"/>
                </a:solidFill>
                <a:latin typeface="Calibri" pitchFamily="34" charset="0"/>
                <a:ea typeface="Calibri" pitchFamily="34" charset="-122"/>
                <a:cs typeface="Calibri" pitchFamily="34" charset="-120"/>
              </a:rPr>
              <a:t>Models trained and scored on simulated patients can partly rediscover the simulator's assumptions; scores are an upper bound for real patients.</a:t>
            </a:r>
            <a:endParaRPr lang="en-US" sz="1400" dirty="0"/>
          </a:p>
          <a:p>
            <a:pPr marL="203200" indent="-203200">
              <a:spcAft>
                <a:spcPts val="900"/>
              </a:spcAft>
              <a:buSzPct val="100000"/>
              <a:buChar char="•"/>
            </a:pPr>
            <a:r>
              <a:rPr lang="en-US" sz="1400" dirty="0">
                <a:solidFill>
                  <a:srgbClr val="1F2933"/>
                </a:solidFill>
                <a:latin typeface="Calibri" pitchFamily="34" charset="0"/>
                <a:ea typeface="Calibri" pitchFamily="34" charset="-122"/>
                <a:cs typeface="Calibri" pitchFamily="34" charset="-120"/>
              </a:rPr>
              <a:t>The real validation sets are small and not Indian, and a classifier still separates real from synthetic windows (AUC 0.95).</a:t>
            </a:r>
            <a:endParaRPr lang="en-US" sz="1400" dirty="0"/>
          </a:p>
          <a:p>
            <a:pPr marL="203200" indent="-203200">
              <a:spcAft>
                <a:spcPts val="900"/>
              </a:spcAft>
              <a:buSzPct val="100000"/>
              <a:buChar char="•"/>
            </a:pPr>
            <a:r>
              <a:rPr lang="en-US" sz="1400" dirty="0">
                <a:solidFill>
                  <a:srgbClr val="1F2933"/>
                </a:solidFill>
                <a:latin typeface="Calibri" pitchFamily="34" charset="0"/>
                <a:ea typeface="Calibri" pitchFamily="34" charset="-122"/>
                <a:cs typeface="Calibri" pitchFamily="34" charset="-120"/>
              </a:rPr>
              <a:t>A week of CGM does not pin down the twin's parameters exactly, so the twin card shows its uncertainty.</a:t>
            </a:r>
            <a:endParaRPr lang="en-US" sz="1400" dirty="0"/>
          </a:p>
          <a:p>
            <a:pPr marL="203200" indent="-203200">
              <a:spcAft>
                <a:spcPts val="900"/>
              </a:spcAft>
              <a:buSzPct val="100000"/>
              <a:buChar char="•"/>
            </a:pPr>
            <a:r>
              <a:rPr lang="en-US" sz="1400" dirty="0">
                <a:solidFill>
                  <a:srgbClr val="1F2933"/>
                </a:solidFill>
                <a:latin typeface="Calibri" pitchFamily="34" charset="0"/>
                <a:ea typeface="Calibri" pitchFamily="34" charset="-122"/>
                <a:cs typeface="Calibri" pitchFamily="34" charset="-120"/>
              </a:rPr>
              <a:t>Indian population values, meal macros and drug rules await expert review before any clinical use.</a:t>
            </a:r>
            <a:endParaRPr lang="en-US" sz="1400" dirty="0"/>
          </a:p>
        </p:txBody>
      </p:sp>
      <p:sp>
        <p:nvSpPr>
          <p:cNvPr id="9" name="Text 7"/>
          <p:cNvSpPr txBox="1"/>
          <p:nvPr/>
        </p:nvSpPr>
        <p:spPr>
          <a:xfrm>
            <a:off x="548640" y="5806440"/>
            <a:ext cx="11094415" cy="365760"/>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Details: docs/data_card.md (circularity), docs/validation_report.md, docs/parameters_to_verify.md, docs/clinical_rules_to_review.md.</a:t>
            </a:r>
            <a:endParaRPr lang="en-US" sz="1200" dirty="0"/>
          </a:p>
        </p:txBody>
      </p:sp>
      <p:sp>
        <p:nvSpPr>
          <p:cNvPr id="11" name="Text 8"/>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9AA5B1"/>
                </a:solidFill>
                <a:latin typeface="Calibri" pitchFamily="34" charset="0"/>
                <a:ea typeface="Calibri" pitchFamily="34" charset="-122"/>
                <a:cs typeface="Calibri" pitchFamily="34" charset="-120"/>
              </a:rPr>
              <a:t>Team AMRIT_VIT · T2D digital twin · synthetic patients only</a:t>
            </a:r>
            <a:endParaRPr lang="en-US" sz="1000" dirty="0"/>
          </a:p>
        </p:txBody>
      </p:sp>
      <p:sp>
        <p:nvSpPr>
          <p:cNvPr id="12" name="Text 9"/>
          <p:cNvSpPr txBox="1"/>
          <p:nvPr/>
        </p:nvSpPr>
        <p:spPr>
          <a:xfrm>
            <a:off x="10911535" y="6419088"/>
            <a:ext cx="731520" cy="274320"/>
          </a:xfrm>
          <a:prstGeom prst="rect">
            <a:avLst/>
          </a:prstGeom>
          <a:noFill/>
          <a:ln/>
        </p:spPr>
        <p:txBody>
          <a:bodyPr wrap="square" lIns="0" tIns="0" rIns="0" bIns="0" rtlCol="0" anchor="ctr"/>
          <a:lstStyle/>
          <a:p>
            <a:pPr algn="r" indent="0" marL="0">
              <a:buNone/>
            </a:pPr>
            <a:r>
              <a:rPr lang="en-US" sz="1000" dirty="0">
                <a:solidFill>
                  <a:srgbClr val="9AA5B1"/>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2344D"/>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82296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Impact and next steps</a:t>
            </a:r>
            <a:endParaRPr lang="en-US" sz="3600" dirty="0"/>
          </a:p>
        </p:txBody>
      </p:sp>
      <p:sp>
        <p:nvSpPr>
          <p:cNvPr id="3" name="Text 1"/>
          <p:cNvSpPr txBox="1"/>
          <p:nvPr/>
        </p:nvSpPr>
        <p:spPr>
          <a:xfrm>
            <a:off x="640080" y="1508760"/>
            <a:ext cx="5212080" cy="411480"/>
          </a:xfrm>
          <a:prstGeom prst="rect">
            <a:avLst/>
          </a:prstGeom>
          <a:noFill/>
          <a:ln/>
        </p:spPr>
        <p:txBody>
          <a:bodyPr wrap="square" lIns="0" tIns="0" rIns="0" bIns="0" rtlCol="0" anchor="ctr"/>
          <a:lstStyle/>
          <a:p>
            <a:pPr indent="0" marL="0">
              <a:buNone/>
            </a:pPr>
            <a:r>
              <a:rPr lang="en-US" sz="1900" b="1" dirty="0">
                <a:solidFill>
                  <a:srgbClr val="E07A2F"/>
                </a:solidFill>
                <a:latin typeface="Cambria" pitchFamily="34" charset="0"/>
                <a:ea typeface="Cambria" pitchFamily="34" charset="-122"/>
                <a:cs typeface="Cambria" pitchFamily="34" charset="-120"/>
              </a:rPr>
              <a:t>What it enables</a:t>
            </a:r>
            <a:endParaRPr lang="en-US" sz="1900" dirty="0"/>
          </a:p>
        </p:txBody>
      </p:sp>
      <p:sp>
        <p:nvSpPr>
          <p:cNvPr id="4" name="Text 2"/>
          <p:cNvSpPr txBox="1"/>
          <p:nvPr/>
        </p:nvSpPr>
        <p:spPr>
          <a:xfrm>
            <a:off x="640080" y="2011680"/>
            <a:ext cx="5212080" cy="3291840"/>
          </a:xfrm>
          <a:prstGeom prst="rect">
            <a:avLst/>
          </a:prstGeom>
          <a:noFill/>
          <a:ln/>
        </p:spPr>
        <p:txBody>
          <a:bodyPr wrap="square" lIns="0" tIns="0" rIns="0" bIns="0" rtlCol="0" anchor="t"/>
          <a:lstStyle/>
          <a:p>
            <a:pPr marL="203200" indent="-203200">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Triage of CGM-monitored patients by 2-hour risk, with a reason for each.</a:t>
            </a:r>
            <a:endParaRPr lang="en-US" sz="1500" dirty="0"/>
          </a:p>
          <a:p>
            <a:pPr marL="203200" indent="-203200">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Alerts about 80 minutes ahead, explained in clinical language.</a:t>
            </a:r>
            <a:endParaRPr lang="en-US" sz="1500" dirty="0"/>
          </a:p>
          <a:p>
            <a:pPr marL="203200" indent="-203200">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Meal, walk and medicine changes discussed on the patient's own twin, with Indian foods and safety checks.</a:t>
            </a:r>
            <a:endParaRPr lang="en-US" sz="1500" dirty="0"/>
          </a:p>
          <a:p>
            <a:pPr marL="203200" indent="-203200">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Privacy-safe development: realistic synthetic patients instead of real records.</a:t>
            </a:r>
            <a:endParaRPr lang="en-US" sz="1500" dirty="0"/>
          </a:p>
        </p:txBody>
      </p:sp>
      <p:sp>
        <p:nvSpPr>
          <p:cNvPr id="5" name="Text 3"/>
          <p:cNvSpPr txBox="1"/>
          <p:nvPr/>
        </p:nvSpPr>
        <p:spPr>
          <a:xfrm>
            <a:off x="6355080" y="1508760"/>
            <a:ext cx="5212080" cy="411480"/>
          </a:xfrm>
          <a:prstGeom prst="rect">
            <a:avLst/>
          </a:prstGeom>
          <a:noFill/>
          <a:ln/>
        </p:spPr>
        <p:txBody>
          <a:bodyPr wrap="square" lIns="0" tIns="0" rIns="0" bIns="0" rtlCol="0" anchor="ctr"/>
          <a:lstStyle/>
          <a:p>
            <a:pPr indent="0" marL="0">
              <a:buNone/>
            </a:pPr>
            <a:r>
              <a:rPr lang="en-US" sz="1900" b="1" dirty="0">
                <a:solidFill>
                  <a:srgbClr val="E07A2F"/>
                </a:solidFill>
                <a:latin typeface="Cambria" pitchFamily="34" charset="0"/>
                <a:ea typeface="Cambria" pitchFamily="34" charset="-122"/>
                <a:cs typeface="Cambria" pitchFamily="34" charset="-120"/>
              </a:rPr>
              <a:t>Next steps</a:t>
            </a:r>
            <a:endParaRPr lang="en-US" sz="1900" dirty="0"/>
          </a:p>
        </p:txBody>
      </p:sp>
      <p:sp>
        <p:nvSpPr>
          <p:cNvPr id="6" name="Text 4"/>
          <p:cNvSpPr txBox="1"/>
          <p:nvPr/>
        </p:nvSpPr>
        <p:spPr>
          <a:xfrm>
            <a:off x="6355080" y="2011680"/>
            <a:ext cx="5212080" cy="3291840"/>
          </a:xfrm>
          <a:prstGeom prst="rect">
            <a:avLst/>
          </a:prstGeom>
          <a:noFill/>
          <a:ln/>
        </p:spPr>
        <p:txBody>
          <a:bodyPr wrap="square" lIns="0" tIns="0" rIns="0" bIns="0" rtlCol="0" anchor="t"/>
          <a:lstStyle/>
          <a:p>
            <a:pPr marL="203200" indent="-203200">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Validate on an Indian CGM cohort; clinician review of rules and sentences.</a:t>
            </a:r>
            <a:endParaRPr lang="en-US" sz="1500" dirty="0"/>
          </a:p>
          <a:p>
            <a:pPr marL="203200" indent="-203200">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Prandial and premixed insulin, GLP-1 receptor agonists.</a:t>
            </a:r>
            <a:endParaRPr lang="en-US" sz="1500" dirty="0"/>
          </a:p>
          <a:p>
            <a:pPr marL="203200" indent="-203200">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Patient-side nudges (WhatsApp / SMS) and regional-language summaries.</a:t>
            </a:r>
            <a:endParaRPr lang="en-US" sz="1500" dirty="0"/>
          </a:p>
          <a:p>
            <a:pPr marL="203200" indent="-203200">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A silent-mode prospective study before any clinical use.</a:t>
            </a:r>
            <a:endParaRPr lang="en-US" sz="1500" dirty="0"/>
          </a:p>
        </p:txBody>
      </p:sp>
      <p:sp>
        <p:nvSpPr>
          <p:cNvPr id="7" name="Text 5"/>
          <p:cNvSpPr txBox="1"/>
          <p:nvPr/>
        </p:nvSpPr>
        <p:spPr>
          <a:xfrm>
            <a:off x="640080" y="5486400"/>
            <a:ext cx="10881360" cy="73152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github.com/shashi-bhushan-27/digitalTwinChallenge</a:t>
            </a:r>
            <a:endParaRPr lang="en-US" sz="1500" dirty="0"/>
          </a:p>
          <a:p>
            <a:pPr indent="0" marL="0">
              <a:buNone/>
            </a:pPr>
            <a:r>
              <a:rPr lang="en-US" sz="1500" dirty="0">
                <a:solidFill>
                  <a:srgbClr val="CADCFC"/>
                </a:solidFill>
                <a:latin typeface="Calibri" pitchFamily="34" charset="0"/>
                <a:ea typeface="Calibri" pitchFamily="34" charset="-122"/>
                <a:cs typeface="Calibri" pitchFamily="34" charset="-120"/>
              </a:rPr>
              <a:t>Team AMRIT_VIT · Shashi Bhushan · VIT Vellore · Thank you</a:t>
            </a:r>
            <a:endParaRPr lang="en-US" sz="1500" dirty="0"/>
          </a:p>
        </p:txBody>
      </p:sp>
      <p:sp>
        <p:nvSpPr>
          <p:cNvPr id="9" name="Text 6"/>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8FA6BD"/>
                </a:solidFill>
                <a:latin typeface="Calibri" pitchFamily="34" charset="0"/>
                <a:ea typeface="Calibri" pitchFamily="34" charset="-122"/>
                <a:cs typeface="Calibri" pitchFamily="34" charset="-120"/>
              </a:rPr>
              <a:t>Team AMRIT_VIT · T2D digital twin · synthetic patients only</a:t>
            </a:r>
            <a:endParaRPr lang="en-US" sz="1000" dirty="0"/>
          </a:p>
        </p:txBody>
      </p:sp>
      <p:sp>
        <p:nvSpPr>
          <p:cNvPr id="10" name="Text 7"/>
          <p:cNvSpPr txBox="1"/>
          <p:nvPr/>
        </p:nvSpPr>
        <p:spPr>
          <a:xfrm>
            <a:off x="10911535" y="6419088"/>
            <a:ext cx="731520" cy="274320"/>
          </a:xfrm>
          <a:prstGeom prst="rect">
            <a:avLst/>
          </a:prstGeom>
          <a:noFill/>
          <a:ln/>
        </p:spPr>
        <p:txBody>
          <a:bodyPr wrap="square" lIns="0" tIns="0" rIns="0" bIns="0" rtlCol="0" anchor="ctr"/>
          <a:lstStyle/>
          <a:p>
            <a:pPr algn="r" indent="0" marL="0">
              <a:buNone/>
            </a:pPr>
            <a:r>
              <a:rPr lang="en-US" sz="1000" dirty="0">
                <a:solidFill>
                  <a:srgbClr val="8FA6BD"/>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T2D Digital Twin: Digital Twin Challenge 2026</dc:title>
  <dc:subject>PptxGenJS Presentation</dc:subject>
  <dc:creator>Shashi Bhushan (Team AMRIT_VIT)</dc:creator>
  <cp:lastModifiedBy>Shashi Bhushan (Team AMRIT_VIT)</cp:lastModifiedBy>
  <cp:revision>1</cp:revision>
  <dcterms:created xsi:type="dcterms:W3CDTF">2026-09-29T17:05:45Z</dcterms:created>
  <dcterms:modified xsi:type="dcterms:W3CDTF">2026-09-29T17:05:45Z</dcterms:modified>
</cp:coreProperties>
</file>